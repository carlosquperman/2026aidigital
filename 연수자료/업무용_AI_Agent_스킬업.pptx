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2" r:id="rId34"/>
    <p:sldId id="283" r:id="rId35"/>
    <p:sldId id="257" r:id="rId3"/>
    <p:sldId id="258" r:id="rId4"/>
    <p:sldId id="259" r:id="rId5"/>
    <p:sldId id="284" r:id="rId36"/>
    <p:sldId id="260" r:id="rId6"/>
    <p:sldId id="261" r:id="rId7"/>
    <p:sldId id="28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프닝" id="{3E813C36-E7D2-C328-7018-F6E3A37E4890}">
          <p14:sldIdLst>
            <p14:sldId id="256"/>
            <p14:sldId id="257"/>
            <p14:sldId id="258"/>
            <p14:sldId id="259"/>
          </p14:sldIdLst>
        </p14:section>
        <p14:section name="Lv.0 완성품 시연" id="{CB313BF2-4D6C-45D8-F9B2-631B1DA6FDDD}">
          <p14:sldIdLst>
            <p14:sldId id="260"/>
            <p14:sldId id="261"/>
            <p14:sldId id="281"/>
            <p14:sldId id="262"/>
          </p14:sldIdLst>
        </p14:section>
        <p14:section name="Lv.1~2 업무를 스킬로" id="{40D565E9-7426-A4C2-2109-7391B4E9750C}">
          <p14:sldIdLst>
            <p14:sldId id="263"/>
            <p14:sldId id="264"/>
            <p14:sldId id="265"/>
            <p14:sldId id="266"/>
            <p14:sldId id="267"/>
          </p14:sldIdLst>
        </p14:section>
        <p14:section name="Lv.3 양식 지키기" id="{EDB9E6CE-1FED-7F2F-7F25-FA0204FF6349}">
          <p14:sldIdLst>
            <p14:sldId id="268"/>
            <p14:sldId id="269"/>
            <p14:sldId id="270"/>
            <p14:sldId id="271"/>
            <p14:sldId id="272"/>
          </p14:sldIdLst>
        </p14:section>
        <p14:section name="Lv.4~5 연결과 검증" id="{811938E0-0EAB-AD92-AB1F-FAC160A28447}">
          <p14:sldIdLst>
            <p14:sldId id="273"/>
            <p14:sldId id="274"/>
            <p14:sldId id="275"/>
            <p14:sldId id="276"/>
          </p14:sldIdLst>
        </p14:section>
        <p14:section name="Lv.6 자동화·공유" id="{2A3882E0-0973-A4A9-2063-50C0BAAF1C34}">
          <p14:sldIdLst>
            <p14:sldId id="277"/>
            <p14:sldId id="278"/>
          </p14:sldIdLst>
        </p14:section>
        <p14:section name="마무리" id="{7C535E9E-4E33-121B-FEC5-295B64B5BBBD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원재 장" userId="85b49e2924bff09f" providerId="LiveId" clId="{B78F399A-AE16-4024-8510-69BAB7A8D73A}"/>
    <pc:docChg chg="custSel addSld modSld">
      <pc:chgData name="원재 장" userId="85b49e2924bff09f" providerId="LiveId" clId="{B78F399A-AE16-4024-8510-69BAB7A8D73A}" dt="2026-10-30T01:52:52.428" v="600" actId="478"/>
      <pc:docMkLst>
        <pc:docMk/>
      </pc:docMkLst>
      <pc:sldChg chg="modSp mod">
        <pc:chgData name="원재 장" userId="85b49e2924bff09f" providerId="LiveId" clId="{B78F399A-AE16-4024-8510-69BAB7A8D73A}" dt="2026-10-30T01:37:27.426" v="156" actId="20577"/>
        <pc:sldMkLst>
          <pc:docMk/>
          <pc:sldMk cId="0" sldId="256"/>
        </pc:sldMkLst>
        <pc:spChg chg="mod">
          <ac:chgData name="원재 장" userId="85b49e2924bff09f" providerId="LiveId" clId="{B78F399A-AE16-4024-8510-69BAB7A8D73A}" dt="2026-10-30T01:37:27.426" v="156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원재 장" userId="85b49e2924bff09f" providerId="LiveId" clId="{B78F399A-AE16-4024-8510-69BAB7A8D73A}" dt="2026-10-30T01:38:20.574" v="460" actId="20577"/>
        <pc:sldMkLst>
          <pc:docMk/>
          <pc:sldMk cId="0" sldId="259"/>
        </pc:sldMkLst>
        <pc:spChg chg="mod">
          <ac:chgData name="원재 장" userId="85b49e2924bff09f" providerId="LiveId" clId="{B78F399A-AE16-4024-8510-69BAB7A8D73A}" dt="2026-10-30T01:38:20.574" v="460" actId="20577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원재 장" userId="85b49e2924bff09f" providerId="LiveId" clId="{B78F399A-AE16-4024-8510-69BAB7A8D73A}" dt="2026-10-30T01:38:39.219" v="493" actId="207"/>
        <pc:sldMkLst>
          <pc:docMk/>
          <pc:sldMk cId="0" sldId="260"/>
        </pc:sldMkLst>
        <pc:spChg chg="mod">
          <ac:chgData name="원재 장" userId="85b49e2924bff09f" providerId="LiveId" clId="{B78F399A-AE16-4024-8510-69BAB7A8D73A}" dt="2026-10-30T01:38:39.219" v="493" actId="207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mod">
        <pc:chgData name="원재 장" userId="85b49e2924bff09f" providerId="LiveId" clId="{B78F399A-AE16-4024-8510-69BAB7A8D73A}" dt="2026-10-30T01:42:11.991" v="587" actId="1076"/>
        <pc:sldMkLst>
          <pc:docMk/>
          <pc:sldMk cId="0" sldId="261"/>
        </pc:sldMkLst>
        <pc:spChg chg="mod">
          <ac:chgData name="원재 장" userId="85b49e2924bff09f" providerId="LiveId" clId="{B78F399A-AE16-4024-8510-69BAB7A8D73A}" dt="2026-10-30T01:39:18.491" v="524" actId="20577"/>
          <ac:spMkLst>
            <pc:docMk/>
            <pc:sldMk cId="0" sldId="261"/>
            <ac:spMk id="2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35.794" v="559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36.977" v="560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원재 장" userId="85b49e2924bff09f" providerId="LiveId" clId="{B78F399A-AE16-4024-8510-69BAB7A8D73A}" dt="2026-10-30T01:41:38.059" v="562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39.283" v="563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0.209" v="564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6.224" v="570" actId="478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원재 장" userId="85b49e2924bff09f" providerId="LiveId" clId="{B78F399A-AE16-4024-8510-69BAB7A8D73A}" dt="2026-10-30T01:41:53.818" v="579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7.562" v="571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34.912" v="558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52.041" v="577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51.500" v="576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54.996" v="580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34.243" v="557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9.866" v="575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원재 장" userId="85b49e2924bff09f" providerId="LiveId" clId="{B78F399A-AE16-4024-8510-69BAB7A8D73A}" dt="2026-10-30T01:41:49.545" v="574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56.289" v="581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4.391" v="567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3.489" v="566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원재 장" userId="85b49e2924bff09f" providerId="LiveId" clId="{B78F399A-AE16-4024-8510-69BAB7A8D73A}" dt="2026-10-30T01:41:43.234" v="565" actId="478"/>
          <ac:spMkLst>
            <pc:docMk/>
            <pc:sldMk cId="0" sldId="261"/>
            <ac:spMk id="30" creationId="{00000000-0000-0000-0000-000000000000}"/>
          </ac:spMkLst>
        </pc:spChg>
        <pc:picChg chg="del">
          <ac:chgData name="원재 장" userId="85b49e2924bff09f" providerId="LiveId" clId="{B78F399A-AE16-4024-8510-69BAB7A8D73A}" dt="2026-10-30T01:41:58.418" v="584" actId="478"/>
          <ac:picMkLst>
            <pc:docMk/>
            <pc:sldMk cId="0" sldId="261"/>
            <ac:picMk id="9" creationId="{00000000-0000-0000-0000-000000000000}"/>
          </ac:picMkLst>
        </pc:picChg>
        <pc:picChg chg="del">
          <ac:chgData name="원재 장" userId="85b49e2924bff09f" providerId="LiveId" clId="{B78F399A-AE16-4024-8510-69BAB7A8D73A}" dt="2026-10-30T01:41:45.422" v="569" actId="478"/>
          <ac:picMkLst>
            <pc:docMk/>
            <pc:sldMk cId="0" sldId="261"/>
            <ac:picMk id="12" creationId="{00000000-0000-0000-0000-000000000000}"/>
          </ac:picMkLst>
        </pc:picChg>
        <pc:picChg chg="del">
          <ac:chgData name="원재 장" userId="85b49e2924bff09f" providerId="LiveId" clId="{B78F399A-AE16-4024-8510-69BAB7A8D73A}" dt="2026-10-30T01:41:57.892" v="583" actId="478"/>
          <ac:picMkLst>
            <pc:docMk/>
            <pc:sldMk cId="0" sldId="261"/>
            <ac:picMk id="15" creationId="{00000000-0000-0000-0000-000000000000}"/>
          </ac:picMkLst>
        </pc:picChg>
        <pc:picChg chg="del">
          <ac:chgData name="원재 장" userId="85b49e2924bff09f" providerId="LiveId" clId="{B78F399A-AE16-4024-8510-69BAB7A8D73A}" dt="2026-10-30T01:41:57.073" v="582" actId="478"/>
          <ac:picMkLst>
            <pc:docMk/>
            <pc:sldMk cId="0" sldId="261"/>
            <ac:picMk id="21" creationId="{00000000-0000-0000-0000-000000000000}"/>
          </ac:picMkLst>
        </pc:picChg>
        <pc:picChg chg="del">
          <ac:chgData name="원재 장" userId="85b49e2924bff09f" providerId="LiveId" clId="{B78F399A-AE16-4024-8510-69BAB7A8D73A}" dt="2026-10-30T01:41:48.971" v="573" actId="478"/>
          <ac:picMkLst>
            <pc:docMk/>
            <pc:sldMk cId="0" sldId="261"/>
            <ac:picMk id="24" creationId="{00000000-0000-0000-0000-000000000000}"/>
          </ac:picMkLst>
        </pc:picChg>
        <pc:picChg chg="del">
          <ac:chgData name="원재 장" userId="85b49e2924bff09f" providerId="LiveId" clId="{B78F399A-AE16-4024-8510-69BAB7A8D73A}" dt="2026-10-30T01:41:44.835" v="568" actId="478"/>
          <ac:picMkLst>
            <pc:docMk/>
            <pc:sldMk cId="0" sldId="261"/>
            <ac:picMk id="29" creationId="{00000000-0000-0000-0000-000000000000}"/>
          </ac:picMkLst>
        </pc:picChg>
        <pc:picChg chg="add mod">
          <ac:chgData name="원재 장" userId="85b49e2924bff09f" providerId="LiveId" clId="{B78F399A-AE16-4024-8510-69BAB7A8D73A}" dt="2026-10-30T01:42:11.991" v="587" actId="1076"/>
          <ac:picMkLst>
            <pc:docMk/>
            <pc:sldMk cId="0" sldId="261"/>
            <ac:picMk id="33" creationId="{4A0BC111-830B-4FBF-A1B1-2B376933C449}"/>
          </ac:picMkLst>
        </pc:picChg>
      </pc:sldChg>
      <pc:sldChg chg="modSp mod">
        <pc:chgData name="원재 장" userId="85b49e2924bff09f" providerId="LiveId" clId="{B78F399A-AE16-4024-8510-69BAB7A8D73A}" dt="2026-10-30T01:39:36.340" v="556" actId="115"/>
        <pc:sldMkLst>
          <pc:docMk/>
          <pc:sldMk cId="0" sldId="262"/>
        </pc:sldMkLst>
        <pc:spChg chg="mod">
          <ac:chgData name="원재 장" userId="85b49e2924bff09f" providerId="LiveId" clId="{B78F399A-AE16-4024-8510-69BAB7A8D73A}" dt="2026-10-30T01:39:31.463" v="554" actId="20577"/>
          <ac:spMkLst>
            <pc:docMk/>
            <pc:sldMk cId="0" sldId="262"/>
            <ac:spMk id="2" creationId="{00000000-0000-0000-0000-000000000000}"/>
          </ac:spMkLst>
        </pc:spChg>
        <pc:graphicFrameChg chg="modGraphic">
          <ac:chgData name="원재 장" userId="85b49e2924bff09f" providerId="LiveId" clId="{B78F399A-AE16-4024-8510-69BAB7A8D73A}" dt="2026-10-30T01:39:36.340" v="556" actId="115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addSp delSp modSp add mod">
        <pc:chgData name="원재 장" userId="85b49e2924bff09f" providerId="LiveId" clId="{B78F399A-AE16-4024-8510-69BAB7A8D73A}" dt="2026-10-30T01:52:52.428" v="600" actId="478"/>
        <pc:sldMkLst>
          <pc:docMk/>
          <pc:sldMk cId="490451105" sldId="281"/>
        </pc:sldMkLst>
        <pc:picChg chg="add mod">
          <ac:chgData name="원재 장" userId="85b49e2924bff09f" providerId="LiveId" clId="{B78F399A-AE16-4024-8510-69BAB7A8D73A}" dt="2026-10-30T01:52:41.709" v="595" actId="1076"/>
          <ac:picMkLst>
            <pc:docMk/>
            <pc:sldMk cId="490451105" sldId="281"/>
            <ac:picMk id="5" creationId="{4BAF0867-AE1D-4603-85C0-45332A3B24FA}"/>
          </ac:picMkLst>
        </pc:picChg>
        <pc:picChg chg="add del mod">
          <ac:chgData name="원재 장" userId="85b49e2924bff09f" providerId="LiveId" clId="{B78F399A-AE16-4024-8510-69BAB7A8D73A}" dt="2026-10-30T01:52:52.428" v="600" actId="478"/>
          <ac:picMkLst>
            <pc:docMk/>
            <pc:sldMk cId="490451105" sldId="281"/>
            <ac:picMk id="8" creationId="{8274784D-7AB2-4863-B8DA-ECBDD9DF34EF}"/>
          </ac:picMkLst>
        </pc:picChg>
        <pc:picChg chg="del">
          <ac:chgData name="원재 장" userId="85b49e2924bff09f" providerId="LiveId" clId="{B78F399A-AE16-4024-8510-69BAB7A8D73A}" dt="2026-10-30T01:42:14.733" v="589" actId="478"/>
          <ac:picMkLst>
            <pc:docMk/>
            <pc:sldMk cId="490451105" sldId="281"/>
            <ac:picMk id="33" creationId="{4A0BC111-830B-4FBF-A1B1-2B376933C44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29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인사 및 강사 소개. '오늘은 AI에게 일을 한 번 가르쳐 두면 계속 일하게 만드는 방법을 실습합니다.' 오른쪽 계단 그림 = 오늘 레벨업 구조. 바로 다음 슬라이드로 넘어가 '오늘 손에 남을 것'부터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[1분] 오늘의 결과물 세 가지. 스킬 '만들기'는 10분이면 끝나지만, 업무에 실제로 쓰려면 양식·연결·검증이 필요하다 — 그래서 2시간이 필요하다고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[1분] 위쪽 ①~⑤는 공식 연수 개요의 블록, 아래는 오늘의 레벨. 공식 시간 배분(10·25·25·30·10분)에 휴식 10분 + 정리 10분을 더해 120분. 'Lv.3까지만 와도 성공'이라고 미리 안심시키기.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[1분] 수준 차이가 큰 연수이므로 '각자 속도대로'를 강조. 막히는 분이 많으면 휴식 시간을 해결 시간으로 씀. 개인정보 원칙은 처음부터 못 박아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[1분 30초] 오늘의 관점 전환. 챗봇 = 대답, 에이전트 = 실행. 그래서 에이전트에게는 질문을 잘 하는 것보다 일을 잘 '인수인계'하는 것이 중요하다 → 이것이 바로 '스킬'.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 실제 시연. 가상 공문 폴더 → 정리표 → 할 일·보고 초안 → 예약 실행 화면까지 한 번에 보여 주고 '2시간 뒤 여러분이 이걸 만든다'로 마무리. 시연은 미리 녹화본도 준비(네트워크 장애 대비).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 실제 시연. 가상 공문 폴더 → 정리표 → 할 일·보고 초안 → 예약 실행 화면까지 한 번에 보여 주고 '2시간 뒤 여러분이 이걸 만든다'로 마무리. 시연은 미리 녹화본도 준비(네트워크 장애 대비).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00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[1분 30초] 오늘은 Claude Desktop 하나로 실습한다. Cowork 작업 폴더 지정 → 스킬 zip 업로드 → 스킬 부르기 → 예약 실행 순서로 화면을 보여 준다. 연수 전 설치·로그인·요금제·코드 실행 설정 확인 공지가 필수(실습실 PC 설치 권한도 확인).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[8분] 입력은 저장소 가정통신문/ 폴더의 넷마블 게임 박물관 운영계획서(hwpx). 반드시 '새 대화'에서 3번 요청해야 차이가 크게 난다. 결과를 공유하며 '왜 매번 다를까?' 질문 → 에이전트는 기준을 모르니 매번 추측한다 → 기준을 적어 주는 것이 스킬. 실습 안내: Lv1_그냥시키기/미션1.md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[1분] 비유: 새로 온 기간제 선생님에게 말로만 설명하면 매번 다르게 한다. 인수인계서를 주면 누구든 같은 방식으로 한다. SKILL.md는 에이전트에게 주는 인수인계서.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 5칸 설명만 하고, 실제 작성은 미션 2에서. 가장 많이 빠지는 칸은 '완료 기준'과 '사람 검토'. 짝과 카드를 바꿔 읽고 질문에 '예'가 나오면 통과.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[2분] 왼쪽은 실제 SKILL.md(저장소 Lv2_스킬만들기/skills/newsletter-writer/SKILL.md). 위 --- 사이(이름·설명)가 가장 중요: 설명이 모호하면 에이전트가 스킬을 안 쓰거나 엉뚱할 때 쓴다. 본문은 설계 카드를 그대로 옮기면 된다. 코드를 몰라도 되는 '문서'라는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[12분] 대부분 2단계에서 막힌다: Customize → Skills 에서 zip을 올리는 화면을 다시 보여 주기. 막히면 저장소의 newsletter-writer.zip(완성 예시)을 바로 올리게 한다. 3번 실행 결과가 같아지면 '미션 1과 무엇이 달라졌나?' 질문으로 정리. 결과의 [확인 필요] 칸과 요일 점검 보고(12. 13.은 달력상 일요일)도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 실제 실패 사례 화면(표가 깨진 결과물)을 미리 캡처해 두었다가 보여 주면 효과적. '여러분 학교 양식에서도 반드시 일어납니다.'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 hwp(바이너리)는 에이전트가 다루기 어렵다 → 반드시 hwpx로 저장해서 쓰도록 안내. 양식은 스킬 폴더 assets/에 넣고, SKILL.md에 '양식 구조 변경 금지' 규칙을 적는 것이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[20분] 입력은 Lv.1·2와 같은 넷마블 게임 박물관 운영계획서. Lv.2의 가정통신문 스킬을 확장하는 미션. 저장소 event-package/assets에 hwpx 양식 4종 (가정통신문·안전점검표·안전교육 확인서·결과보고서) 제공. 첫 실행에서 표가 깨지거나 내용을 지어내면 다음 슬라이드의 '고치기 루프'로 해결. 빠른 분은 자기 학교 양식으로 바꿔 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[함께 진행] 미션 3 도중 한 참가자의 실패 사례를 화면에 띄워 함께 규칙을 추가해 보는 시범. '스킬은 처음부터 완벽할 필요가 없다. 실패할 때마다 한 줄씩 자란다.'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[10분] 휴식 시간에 Lv.2·Lv.3에서 막힌 분들을 개별 지원. 후반부는 진도 차이를 고려해 Lv.3 미완료자도 Lv.4 공통 시연을 보며 따라올 수 있게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[12분] 스킬 하나는 단순하지만 세 개를 이으면 업무 흐름이 된다는 것이 Lv.4의 핵심. Cowork 작업 폴더를 Lv4_스킬연결로 지정하고 기준일 2026. 11. 2.(월)로 실행. Lv.3 미완료자는 저장소의 완성 스킬 zip 3개로 연결만 실습해도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 · 미션 4 시작 전] 일괄 처리는 한 번 잘못되면 수십 개 파일이 한꺼번에 망가진다. 이 4가지 규칙을 SKILL.md에 그대로 넣도록 안내. 특히 '원본 삭제 금지'는 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[10분] 작업 폴더를 Lv5_검증으로 바꿔 Lv.4 파이프라인을 다시 실행. 대부분 2~3개만 잡는다 — 그게 이 미션의 포인트. 놓친 함정을 규칙으로 추가 후 재실행해 4/4가 되면 완료. 정답은 완성본/Lv5_함정정답.md. 점수를 공유하면 분위기가 살아남.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[5분] 같은 대화가 만들고 검토하면 자기 실수를 못 본다. 결과를 만든 대화와 다른 새 대화에서 output-reviewer 스킬(checklist.md)을 돌리면 1차 오류를 잡을 수 있다. 마지막 결정은 항상 사람.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[5분] 시연 위주. 방법 1(/schedule)이나 방법 2(Scheduled 메뉴)로 매주 월 08:00 gongmun-helper 예약을 만든다. 프롬프트는 저장소 Lv6_자동화공유/예약실행_프롬프트.md. 미리 만들어 둔 예약 작업의 결과(Scheduled 함)를 보여 주면 효과적. 요금제·기관 정책에 따라 제한될 수 있음을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[5분] 패키지 정리 후 2~3명 발표. 완성 패키지 예시는 저장소 Lv6_자동화공유/gongmun-helper(.zip). 발표 질문은 '무엇을 만들었나'보다 '어떤 실패를 겪고 무슨 규칙을 추가했나'에 초점 — 그게 오늘 배운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 특히 1번(개인정보)과 3번(사람 검토)은 반복 강조. 소속 기관의 생성형 AI 활용 지침과 업무망 정책을 먼저 확인하도록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[5분] 마무리 메시지 후 질의응답. 실습 자료와 오늘 만든 예시 스킬은 저장소 github.com/CarlosQuperman/2026AIDIGITAL 에서 계속 내려받을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[2분] 오늘의 핵심 공식. 바이브 코딩은 y(원하는 결과물: 출력 형식과 형태)를 먼저 정하고, x(입력 파일과 내가 원하는 조건)를 준비한 뒤, a·b(x를 y로 만드는 방법과 경향 = 스킬)를 만들어 처리하는 과정이다. 일차함수처럼 a·b만 잘 정해 두면 x가 바뀌어도 같은 품질의 y가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[1분] 오늘 실습에 대입: x = 넷마블 게임 박물관 운영계획서(hwpx) + 조건, a·b = newsletter-writer 스킬(SKILL.md + 양식 + 도구), y = A4 2쪽 참가 신청서(hwpx). 아래 띠처럼 Lv.1~6은 모두 a·b를 키우는 과정임을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[1분] 저장소 주소를 화면에 띄우고 ZIP 다운로드 → 압축 해제 → Claude Desktop 코드 실행 켜기 → Cowork 작업 폴더 지정까지 함께 한다. 실습 안내는 각 레벨 폴더의 미션N.md, 막히면 완성본/ 폴더. 막히는 분은 짝꿍과.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4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108960"/>
            <a:ext cx="78638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업무용 AI Agent 스킬업 과정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">
    <p:bg>
      <p:bgPr>
        <a:solidFill>
          <a:srgbClr val="ED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업무용 AI Agent 스킬업 과정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4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72591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80360"/>
            <a:ext cx="1072591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4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66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0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0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0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교원 직무연수 · 2시간 실습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57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업무용 AI Agent 스킬업</a:t>
            </a:r>
            <a:endParaRPr lang="en-US" sz="46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108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accent6"/>
                </a:solidFill>
              </a:rPr>
              <a:t>한 번 가르치면 계속 일하는 나만의 업무 비서 만들기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with Claude Desktop</a:t>
            </a:r>
            <a:endParaRPr lang="en-US" sz="18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accent6"/>
                </a:solidFill>
              </a:rPr>
              <a:t>2026. 10. 30.(금)  14:00 ~ 15:50|  </a:t>
            </a:r>
            <a:r>
              <a:rPr lang="en-US" sz="1500" dirty="0" err="1">
                <a:solidFill>
                  <a:schemeClr val="accent6"/>
                </a:solidFill>
              </a:rPr>
              <a:t>춘천교육대학교</a:t>
            </a:r>
            <a:r>
              <a:rPr lang="en-US" sz="1500" dirty="0">
                <a:solidFill>
                  <a:schemeClr val="accent6"/>
                </a:solidFill>
              </a:rPr>
              <a:t> </a:t>
            </a:r>
            <a:r>
              <a:rPr lang="ko-KR" altLang="en-US" sz="1500" dirty="0">
                <a:solidFill>
                  <a:schemeClr val="accent6"/>
                </a:solidFill>
              </a:rPr>
              <a:t>석우관 </a:t>
            </a:r>
            <a:r>
              <a:rPr lang="en-US" altLang="ko-KR" sz="1500" dirty="0">
                <a:solidFill>
                  <a:schemeClr val="accent6"/>
                </a:solidFill>
              </a:rPr>
              <a:t>203</a:t>
            </a:r>
            <a:r>
              <a:rPr lang="ko-KR" altLang="en-US" sz="1500" dirty="0">
                <a:solidFill>
                  <a:schemeClr val="accent6"/>
                </a:solidFill>
              </a:rPr>
              <a:t>호</a:t>
            </a:r>
            <a:endParaRPr lang="en-US" sz="1800" dirty="0"/>
          </a:p>
          <a:p>
            <a:pPr marL="0" indent="0">
              <a:spcBef>
                <a:spcPts val="600"/>
              </a:spcBef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춘천고등학교 정보 교사</a:t>
            </a:r>
            <a:r>
              <a:rPr lang="en-US" sz="1500" dirty="0">
                <a:solidFill>
                  <a:schemeClr val="accent6"/>
                </a:solidFill>
              </a:rPr>
              <a:t> </a:t>
            </a:r>
            <a:r>
              <a:rPr lang="ko-KR" altLang="en-US" sz="1500" dirty="0">
                <a:solidFill>
                  <a:schemeClr val="accent6"/>
                </a:solidFill>
              </a:rPr>
              <a:t>장원재</a:t>
            </a:r>
            <a:endParaRPr lang="en-US" sz="1800" dirty="0"/>
          </a:p>
        </p:txBody>
      </p:sp>
      <p:sp>
        <p:nvSpPr>
          <p:cNvPr id="6" name="레벨 계단"/>
          <p:cNvSpPr/>
          <p:nvPr/>
        </p:nvSpPr>
        <p:spPr>
          <a:xfrm>
            <a:off x="8915400" y="4663440"/>
            <a:ext cx="804672" cy="1005840"/>
          </a:xfrm>
          <a:prstGeom prst="roundRect">
            <a:avLst>
              <a:gd name="adj" fmla="val 11364"/>
            </a:avLst>
          </a:prstGeom>
          <a:solidFill>
            <a:schemeClr val="accent3"/>
          </a:solidFill>
          <a:ln/>
        </p:spPr>
        <p:txBody>
          <a:bodyPr wrap="square" lIns="12700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Lv.1</a:t>
            </a:r>
            <a:endParaRPr lang="en-US" sz="1500" dirty="0"/>
          </a:p>
        </p:txBody>
      </p:sp>
      <p:sp>
        <p:nvSpPr>
          <p:cNvPr id="7" name="레벨 계단"/>
          <p:cNvSpPr/>
          <p:nvPr/>
        </p:nvSpPr>
        <p:spPr>
          <a:xfrm>
            <a:off x="9829800" y="3840480"/>
            <a:ext cx="804672" cy="1828800"/>
          </a:xfrm>
          <a:prstGeom prst="roundRect">
            <a:avLst>
              <a:gd name="adj" fmla="val 11364"/>
            </a:avLst>
          </a:prstGeom>
          <a:solidFill>
            <a:schemeClr val="accent6"/>
          </a:solidFill>
          <a:ln/>
        </p:spPr>
        <p:txBody>
          <a:bodyPr wrap="square" lIns="12700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Lv.3</a:t>
            </a:r>
            <a:endParaRPr lang="en-US" sz="1500" dirty="0"/>
          </a:p>
        </p:txBody>
      </p:sp>
      <p:sp>
        <p:nvSpPr>
          <p:cNvPr id="8" name="레벨 계단"/>
          <p:cNvSpPr/>
          <p:nvPr/>
        </p:nvSpPr>
        <p:spPr>
          <a:xfrm>
            <a:off x="10744200" y="3017520"/>
            <a:ext cx="804672" cy="2651760"/>
          </a:xfrm>
          <a:prstGeom prst="roundRect">
            <a:avLst>
              <a:gd name="adj" fmla="val 11364"/>
            </a:avLst>
          </a:prstGeom>
          <a:solidFill>
            <a:schemeClr val="accent2"/>
          </a:solidFill>
          <a:ln/>
        </p:spPr>
        <p:txBody>
          <a:bodyPr wrap="square" lIns="12700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Lv.6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2시간 뒤, 손에 남는 것</a:t>
            </a:r>
            <a:endParaRPr lang="en-US" sz="3000" dirty="0"/>
          </a:p>
        </p:txBody>
      </p:sp>
      <p:sp>
        <p:nvSpPr>
          <p:cNvPr id="3" name="목표 카드 1"/>
          <p:cNvSpPr/>
          <p:nvPr/>
        </p:nvSpPr>
        <p:spPr>
          <a:xfrm>
            <a:off x="548640" y="1417320"/>
            <a:ext cx="351129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아이콘 원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아이콘 LuNotebookPe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76" y="1982876"/>
            <a:ext cx="469087" cy="4690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926080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80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내 업무 스킬 1개</a:t>
            </a:r>
            <a:endParaRPr lang="en-US" sz="21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SKILL.md 한 장으로 정리한 나만의 업무 인수인계서</a:t>
            </a:r>
            <a:endParaRPr lang="en-US" sz="2100" dirty="0"/>
          </a:p>
        </p:txBody>
      </p:sp>
      <p:sp>
        <p:nvSpPr>
          <p:cNvPr id="8" name="목표 카드 2"/>
          <p:cNvSpPr/>
          <p:nvPr/>
        </p:nvSpPr>
        <p:spPr>
          <a:xfrm>
            <a:off x="4334256" y="1417320"/>
            <a:ext cx="351129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9" name="아이콘 원"/>
          <p:cNvSpPr/>
          <p:nvPr/>
        </p:nvSpPr>
        <p:spPr>
          <a:xfrm>
            <a:off x="4654296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아이콘 LuWorkfl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092" y="1982876"/>
            <a:ext cx="469087" cy="4690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11696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4654296" y="2880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연결된 업무 흐름</a:t>
            </a:r>
            <a:endParaRPr lang="en-US" sz="21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스킬 여러 개를 이어 폴더째 처리하는 파이프라인</a:t>
            </a:r>
            <a:endParaRPr lang="en-US" sz="2100" dirty="0"/>
          </a:p>
        </p:txBody>
      </p:sp>
      <p:sp>
        <p:nvSpPr>
          <p:cNvPr id="13" name="목표 카드 3"/>
          <p:cNvSpPr/>
          <p:nvPr/>
        </p:nvSpPr>
        <p:spPr>
          <a:xfrm>
            <a:off x="8119872" y="1417320"/>
            <a:ext cx="351129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4" name="아이콘 원"/>
          <p:cNvSpPr/>
          <p:nvPr/>
        </p:nvSpPr>
        <p:spPr>
          <a:xfrm>
            <a:off x="8439912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아이콘 LuClipboardChec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708" y="1982876"/>
            <a:ext cx="469087" cy="4690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497312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8439912" y="28803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검증 기준</a:t>
            </a:r>
            <a:endParaRPr lang="en-US" sz="21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AI 결과를 믿어도 되는지 확인하는 체크리스트</a:t>
            </a:r>
            <a:endParaRPr lang="en-US" sz="2100" dirty="0"/>
          </a:p>
        </p:txBody>
      </p:sp>
      <p:sp>
        <p:nvSpPr>
          <p:cNvPr id="18" name="아이콘 원"/>
          <p:cNvSpPr/>
          <p:nvPr/>
        </p:nvSpPr>
        <p:spPr>
          <a:xfrm>
            <a:off x="548640" y="4754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아이콘 LuTarge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" y="4902098"/>
            <a:ext cx="345643" cy="34564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681728"/>
            <a:ext cx="1019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연수 목표  </a:t>
            </a:r>
            <a:r>
              <a:rPr lang="en-US" sz="1600" dirty="0">
                <a:solidFill>
                  <a:schemeClr val="tx1"/>
                </a:solidFill>
              </a:rPr>
              <a:t>학교 업무 흐름을 분석하고, 문서·자료 처리와 반복 업무를 지원하는 안전한 AI Agent 스킬을 설계·검증할 수 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레벨 맵 (120분)</a:t>
            </a:r>
            <a:endParaRPr lang="en-US" sz="3000" dirty="0"/>
          </a:p>
        </p:txBody>
      </p:sp>
      <p:sp>
        <p:nvSpPr>
          <p:cNvPr id="3" name="연결선"/>
          <p:cNvSpPr/>
          <p:nvPr/>
        </p:nvSpPr>
        <p:spPr>
          <a:xfrm>
            <a:off x="1164996" y="2788920"/>
            <a:ext cx="9861702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4" name="공식 블록 구분선"/>
          <p:cNvSpPr/>
          <p:nvPr/>
        </p:nvSpPr>
        <p:spPr>
          <a:xfrm>
            <a:off x="621792" y="1938528"/>
            <a:ext cx="1086409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10864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① 도입</a:t>
            </a:r>
            <a:endParaRPr lang="en-US" sz="1200" dirty="0"/>
          </a:p>
        </p:txBody>
      </p:sp>
      <p:sp>
        <p:nvSpPr>
          <p:cNvPr id="6" name="공식 블록 구분선"/>
          <p:cNvSpPr/>
          <p:nvPr/>
        </p:nvSpPr>
        <p:spPr>
          <a:xfrm>
            <a:off x="1854505" y="1938528"/>
            <a:ext cx="231912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4505" y="1481328"/>
            <a:ext cx="2319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② 업무 분석</a:t>
            </a:r>
            <a:endParaRPr lang="en-US" sz="1200" dirty="0"/>
          </a:p>
        </p:txBody>
      </p:sp>
      <p:sp>
        <p:nvSpPr>
          <p:cNvPr id="8" name="공식 블록 구분선"/>
          <p:cNvSpPr/>
          <p:nvPr/>
        </p:nvSpPr>
        <p:spPr>
          <a:xfrm>
            <a:off x="4319930" y="1938528"/>
            <a:ext cx="1086409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19930" y="1481328"/>
            <a:ext cx="10864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③ 문서 스킬</a:t>
            </a:r>
            <a:endParaRPr lang="en-US" sz="1200" dirty="0"/>
          </a:p>
        </p:txBody>
      </p:sp>
      <p:sp>
        <p:nvSpPr>
          <p:cNvPr id="10" name="공식 블록 구분선"/>
          <p:cNvSpPr/>
          <p:nvPr/>
        </p:nvSpPr>
        <p:spPr>
          <a:xfrm>
            <a:off x="6785356" y="1938528"/>
            <a:ext cx="231912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5356" y="1481328"/>
            <a:ext cx="2319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④ 반복 업무</a:t>
            </a:r>
            <a:endParaRPr lang="en-US" sz="1200" dirty="0"/>
          </a:p>
        </p:txBody>
      </p:sp>
      <p:sp>
        <p:nvSpPr>
          <p:cNvPr id="12" name="공식 블록 구분선"/>
          <p:cNvSpPr/>
          <p:nvPr/>
        </p:nvSpPr>
        <p:spPr>
          <a:xfrm>
            <a:off x="9250782" y="1938528"/>
            <a:ext cx="1086409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0782" y="1481328"/>
            <a:ext cx="10864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⑤ 패키지·공유</a:t>
            </a:r>
            <a:endParaRPr lang="en-US" sz="1200" dirty="0"/>
          </a:p>
        </p:txBody>
      </p:sp>
      <p:sp>
        <p:nvSpPr>
          <p:cNvPr id="14" name="레벨 노드"/>
          <p:cNvSpPr/>
          <p:nvPr/>
        </p:nvSpPr>
        <p:spPr>
          <a:xfrm>
            <a:off x="730656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완성품 시연</a:t>
            </a:r>
            <a:endParaRPr lang="en-US" sz="1400" dirty="0"/>
          </a:p>
        </p:txBody>
      </p:sp>
      <p:sp>
        <p:nvSpPr>
          <p:cNvPr id="16" name="시간 칩"/>
          <p:cNvSpPr/>
          <p:nvPr/>
        </p:nvSpPr>
        <p:spPr>
          <a:xfrm>
            <a:off x="799236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10분</a:t>
            </a:r>
            <a:endParaRPr lang="en-US" sz="1200" dirty="0"/>
          </a:p>
        </p:txBody>
      </p:sp>
      <p:sp>
        <p:nvSpPr>
          <p:cNvPr id="17" name="레벨 노드"/>
          <p:cNvSpPr/>
          <p:nvPr/>
        </p:nvSpPr>
        <p:spPr>
          <a:xfrm>
            <a:off x="1963369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08785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그냥 시키기</a:t>
            </a:r>
            <a:endParaRPr lang="en-US" sz="1400" dirty="0"/>
          </a:p>
        </p:txBody>
      </p:sp>
      <p:sp>
        <p:nvSpPr>
          <p:cNvPr id="19" name="시간 칩"/>
          <p:cNvSpPr/>
          <p:nvPr/>
        </p:nvSpPr>
        <p:spPr>
          <a:xfrm>
            <a:off x="2031949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10분</a:t>
            </a:r>
            <a:endParaRPr lang="en-US" sz="1200" dirty="0"/>
          </a:p>
        </p:txBody>
      </p:sp>
      <p:sp>
        <p:nvSpPr>
          <p:cNvPr id="20" name="레벨 노드"/>
          <p:cNvSpPr/>
          <p:nvPr/>
        </p:nvSpPr>
        <p:spPr>
          <a:xfrm>
            <a:off x="3196082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Lv.2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041498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스킬 만들기</a:t>
            </a:r>
            <a:endParaRPr lang="en-US" sz="1400" dirty="0"/>
          </a:p>
        </p:txBody>
      </p:sp>
      <p:sp>
        <p:nvSpPr>
          <p:cNvPr id="22" name="시간 칩"/>
          <p:cNvSpPr/>
          <p:nvPr/>
        </p:nvSpPr>
        <p:spPr>
          <a:xfrm>
            <a:off x="3264662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15분</a:t>
            </a:r>
            <a:endParaRPr lang="en-US" sz="1200" dirty="0"/>
          </a:p>
        </p:txBody>
      </p:sp>
      <p:sp>
        <p:nvSpPr>
          <p:cNvPr id="23" name="레벨 노드"/>
          <p:cNvSpPr/>
          <p:nvPr/>
        </p:nvSpPr>
        <p:spPr>
          <a:xfrm>
            <a:off x="4428795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Lv.3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274210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양식 지키기</a:t>
            </a:r>
            <a:endParaRPr lang="en-US" sz="1400" dirty="0"/>
          </a:p>
        </p:txBody>
      </p:sp>
      <p:sp>
        <p:nvSpPr>
          <p:cNvPr id="25" name="시간 칩"/>
          <p:cNvSpPr/>
          <p:nvPr/>
        </p:nvSpPr>
        <p:spPr>
          <a:xfrm>
            <a:off x="4497375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25분</a:t>
            </a:r>
            <a:endParaRPr lang="en-US" sz="1200" dirty="0"/>
          </a:p>
        </p:txBody>
      </p:sp>
      <p:sp>
        <p:nvSpPr>
          <p:cNvPr id="26" name="휴식 노드"/>
          <p:cNvSpPr/>
          <p:nvPr/>
        </p:nvSpPr>
        <p:spPr>
          <a:xfrm>
            <a:off x="5661508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7" name="노드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578608"/>
            <a:ext cx="420624" cy="42062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506923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휴식</a:t>
            </a:r>
            <a:endParaRPr lang="en-US" sz="1400" dirty="0"/>
          </a:p>
        </p:txBody>
      </p:sp>
      <p:sp>
        <p:nvSpPr>
          <p:cNvPr id="29" name="시간 칩"/>
          <p:cNvSpPr/>
          <p:nvPr/>
        </p:nvSpPr>
        <p:spPr>
          <a:xfrm>
            <a:off x="5730088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10분</a:t>
            </a:r>
            <a:endParaRPr lang="en-US" sz="1200" dirty="0"/>
          </a:p>
        </p:txBody>
      </p:sp>
      <p:sp>
        <p:nvSpPr>
          <p:cNvPr id="30" name="레벨 노드"/>
          <p:cNvSpPr/>
          <p:nvPr/>
        </p:nvSpPr>
        <p:spPr>
          <a:xfrm>
            <a:off x="6894220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Lv.4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739636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스킬 연결</a:t>
            </a:r>
            <a:endParaRPr lang="en-US" sz="1400" dirty="0"/>
          </a:p>
        </p:txBody>
      </p:sp>
      <p:sp>
        <p:nvSpPr>
          <p:cNvPr id="32" name="시간 칩"/>
          <p:cNvSpPr/>
          <p:nvPr/>
        </p:nvSpPr>
        <p:spPr>
          <a:xfrm>
            <a:off x="6962800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15분</a:t>
            </a:r>
            <a:endParaRPr lang="en-US" sz="1200" dirty="0"/>
          </a:p>
        </p:txBody>
      </p:sp>
      <p:sp>
        <p:nvSpPr>
          <p:cNvPr id="33" name="레벨 노드"/>
          <p:cNvSpPr/>
          <p:nvPr/>
        </p:nvSpPr>
        <p:spPr>
          <a:xfrm>
            <a:off x="8126933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Lv.5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972349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검증</a:t>
            </a:r>
            <a:endParaRPr lang="en-US" sz="1400" dirty="0"/>
          </a:p>
        </p:txBody>
      </p:sp>
      <p:sp>
        <p:nvSpPr>
          <p:cNvPr id="35" name="시간 칩"/>
          <p:cNvSpPr/>
          <p:nvPr/>
        </p:nvSpPr>
        <p:spPr>
          <a:xfrm>
            <a:off x="8195513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15분</a:t>
            </a:r>
            <a:endParaRPr lang="en-US" sz="1200" dirty="0"/>
          </a:p>
        </p:txBody>
      </p:sp>
      <p:sp>
        <p:nvSpPr>
          <p:cNvPr id="36" name="레벨 노드"/>
          <p:cNvSpPr/>
          <p:nvPr/>
        </p:nvSpPr>
        <p:spPr>
          <a:xfrm>
            <a:off x="9359646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Lv.6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9205062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자동화·공유</a:t>
            </a:r>
            <a:endParaRPr lang="en-US" sz="1400" dirty="0"/>
          </a:p>
        </p:txBody>
      </p:sp>
      <p:sp>
        <p:nvSpPr>
          <p:cNvPr id="38" name="시간 칩"/>
          <p:cNvSpPr/>
          <p:nvPr/>
        </p:nvSpPr>
        <p:spPr>
          <a:xfrm>
            <a:off x="9428226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10분</a:t>
            </a:r>
            <a:endParaRPr lang="en-US" sz="1200" dirty="0"/>
          </a:p>
        </p:txBody>
      </p:sp>
      <p:sp>
        <p:nvSpPr>
          <p:cNvPr id="39" name="휴식 노드"/>
          <p:cNvSpPr/>
          <p:nvPr/>
        </p:nvSpPr>
        <p:spPr>
          <a:xfrm>
            <a:off x="10592359" y="2354580"/>
            <a:ext cx="868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0" name="노드 아이콘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387" y="2578608"/>
            <a:ext cx="420624" cy="420624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10437774" y="3383280"/>
            <a:ext cx="11778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정리·Q&amp;A</a:t>
            </a:r>
            <a:endParaRPr lang="en-US" sz="1400" dirty="0"/>
          </a:p>
        </p:txBody>
      </p:sp>
      <p:sp>
        <p:nvSpPr>
          <p:cNvPr id="42" name="시간 칩"/>
          <p:cNvSpPr/>
          <p:nvPr/>
        </p:nvSpPr>
        <p:spPr>
          <a:xfrm>
            <a:off x="10660939" y="3822192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10분</a:t>
            </a:r>
            <a:endParaRPr lang="en-US" sz="1200" dirty="0"/>
          </a:p>
        </p:txBody>
      </p:sp>
      <p:sp>
        <p:nvSpPr>
          <p:cNvPr id="43" name="핵심 메시지 상자"/>
          <p:cNvSpPr/>
          <p:nvPr/>
        </p:nvSpPr>
        <p:spPr>
          <a:xfrm>
            <a:off x="548640" y="47548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4" name="아이콘 원"/>
          <p:cNvSpPr/>
          <p:nvPr/>
        </p:nvSpPr>
        <p:spPr>
          <a:xfrm>
            <a:off x="868680" y="4965192"/>
            <a:ext cx="676656" cy="67665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5" name="아이콘 LuRocke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11" y="5120823"/>
            <a:ext cx="365394" cy="365394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783080" y="48463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핵심은 '만들기'가 아니라 '쓸 수 있게 키우기'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accent5"/>
                </a:solidFill>
              </a:rPr>
              <a:t>레벨마다 직접 실패하고, 고치고, 다음 레벨로 올라갑니다</a:t>
            </a:r>
            <a:endParaRPr lang="en-US" sz="19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진행 방식</a:t>
            </a:r>
            <a:endParaRPr lang="en-US" sz="3000" dirty="0"/>
          </a:p>
        </p:txBody>
      </p:sp>
      <p:sp>
        <p:nvSpPr>
          <p:cNvPr id="3" name="규칙 카드 1"/>
          <p:cNvSpPr/>
          <p:nvPr/>
        </p:nvSpPr>
        <p:spPr>
          <a:xfrm>
            <a:off x="548640" y="1463040"/>
            <a:ext cx="54132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아이콘 원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아이콘 LuClipboardLis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45" y="2007565"/>
            <a:ext cx="419710" cy="4197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레벨별 미션 카드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레벨마다 미션 1개. 완료 조건을 채우면 다음 레벨로 올라갑니다.</a:t>
            </a:r>
            <a:endParaRPr lang="en-US" sz="2000" dirty="0"/>
          </a:p>
        </p:txBody>
      </p:sp>
      <p:sp>
        <p:nvSpPr>
          <p:cNvPr id="7" name="규칙 카드 2"/>
          <p:cNvSpPr/>
          <p:nvPr/>
        </p:nvSpPr>
        <p:spPr>
          <a:xfrm>
            <a:off x="6236208" y="1463040"/>
            <a:ext cx="54132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아이콘 원"/>
          <p:cNvSpPr/>
          <p:nvPr/>
        </p:nvSpPr>
        <p:spPr>
          <a:xfrm>
            <a:off x="6556248" y="18288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아이콘 LuGau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013" y="2007565"/>
            <a:ext cx="419710" cy="4197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62088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내 속도대로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빠른 분은 먼저 가도 좋습니다. Lv.3까지만 와도 오늘은 성공입니다.</a:t>
            </a:r>
            <a:endParaRPr lang="en-US" sz="2000" dirty="0"/>
          </a:p>
        </p:txBody>
      </p:sp>
      <p:sp>
        <p:nvSpPr>
          <p:cNvPr id="11" name="규칙 카드 3"/>
          <p:cNvSpPr/>
          <p:nvPr/>
        </p:nvSpPr>
        <p:spPr>
          <a:xfrm>
            <a:off x="548640" y="3794760"/>
            <a:ext cx="54132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아이콘 원"/>
          <p:cNvSpPr/>
          <p:nvPr/>
        </p:nvSpPr>
        <p:spPr>
          <a:xfrm>
            <a:off x="868680" y="4160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아이콘 LuHandshak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45" y="4339285"/>
            <a:ext cx="419710" cy="4197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74520" y="41605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막히면 짝꿍과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옆 선생님과 화면을 같이 보며 해결하고, 그래도 막히면 손을 들어 주세요.</a:t>
            </a:r>
            <a:endParaRPr lang="en-US" sz="2000" dirty="0"/>
          </a:p>
        </p:txBody>
      </p:sp>
      <p:sp>
        <p:nvSpPr>
          <p:cNvPr id="15" name="규칙 카드 4"/>
          <p:cNvSpPr/>
          <p:nvPr/>
        </p:nvSpPr>
        <p:spPr>
          <a:xfrm>
            <a:off x="6236208" y="3794760"/>
            <a:ext cx="54132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아이콘 원"/>
          <p:cNvSpPr/>
          <p:nvPr/>
        </p:nvSpPr>
        <p:spPr>
          <a:xfrm>
            <a:off x="6556248" y="4160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아이콘 LuShieldChe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013" y="4339285"/>
            <a:ext cx="419710" cy="41971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562088" y="41605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실습 </a:t>
            </a:r>
            <a:r>
              <a:rPr lang="en-US" sz="2000" b="1" dirty="0" err="1">
                <a:solidFill>
                  <a:schemeClr val="tx1"/>
                </a:solidFill>
              </a:rPr>
              <a:t>자료는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</a:rPr>
              <a:t>익명화 처리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1500" dirty="0"/>
              <a:t>기본 실습 자료는 담당 교사와 협력 교사를 제외하고 모두 익명화 처리 하였습니다</a:t>
            </a:r>
            <a:r>
              <a:rPr lang="en-US" altLang="ko-KR" sz="1500" dirty="0"/>
              <a:t>. </a:t>
            </a:r>
            <a:r>
              <a:rPr lang="ko-KR" altLang="en-US" sz="1500" dirty="0"/>
              <a:t>기본 실습 이후 활용 자료는 본인 자료를 활용해주세요</a:t>
            </a:r>
            <a:r>
              <a:rPr lang="en-US" altLang="ko-KR" sz="1500" dirty="0"/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챗봇과 에이전트는 무엇이 다른가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Lv.0  완성품 시연</a:t>
            </a:r>
            <a:endParaRPr lang="en-US" sz="1300" dirty="0"/>
          </a:p>
        </p:txBody>
      </p:sp>
      <p:sp>
        <p:nvSpPr>
          <p:cNvPr id="4" name="챗봇 카드"/>
          <p:cNvSpPr/>
          <p:nvPr/>
        </p:nvSpPr>
        <p:spPr>
          <a:xfrm>
            <a:off x="548640" y="1417320"/>
            <a:ext cx="5120640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rgbClr val="BFE0D8"/>
            </a:solidFill>
            <a:prstDash val="solid"/>
          </a:ln>
        </p:spPr>
      </p:sp>
      <p:sp>
        <p:nvSpPr>
          <p:cNvPr id="5" name="아이콘 원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6" name="아이콘 LuMessageSqua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45" y="1916125"/>
            <a:ext cx="419710" cy="4197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챗봇</a:t>
            </a:r>
            <a:endParaRPr lang="en-US" sz="24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질문에 대답한다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답을 복사해 붙여넣는 건 내 몫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파일·폴더를 직접 다루지 못함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다음에 또 처음부터 설명</a:t>
            </a:r>
            <a:endParaRPr lang="en-US" sz="1600" dirty="0"/>
          </a:p>
        </p:txBody>
      </p:sp>
      <p:pic>
        <p:nvPicPr>
          <p:cNvPr id="9" name="화살표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017520"/>
            <a:ext cx="438912" cy="438912"/>
          </a:xfrm>
          <a:prstGeom prst="rect">
            <a:avLst/>
          </a:prstGeom>
        </p:spPr>
      </p:pic>
      <p:sp>
        <p:nvSpPr>
          <p:cNvPr id="10" name="에이전트 카드"/>
          <p:cNvSpPr/>
          <p:nvPr/>
        </p:nvSpPr>
        <p:spPr>
          <a:xfrm>
            <a:off x="6519672" y="1417320"/>
            <a:ext cx="5120640" cy="3611880"/>
          </a:xfrm>
          <a:prstGeom prst="roundRect">
            <a:avLst>
              <a:gd name="adj" fmla="val 3038"/>
            </a:avLst>
          </a:prstGeom>
          <a:solidFill>
            <a:schemeClr val="tx2"/>
          </a:solidFill>
          <a:ln/>
        </p:spPr>
      </p:sp>
      <p:sp>
        <p:nvSpPr>
          <p:cNvPr id="11" name="아이콘 원"/>
          <p:cNvSpPr/>
          <p:nvPr/>
        </p:nvSpPr>
        <p:spPr>
          <a:xfrm>
            <a:off x="6839712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아이콘 LuBo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477" y="1916125"/>
            <a:ext cx="419710" cy="41971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99832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AI 에이전트</a:t>
            </a:r>
            <a:endParaRPr lang="en-US" sz="24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일을 끝까지 해낸다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6839712" y="28803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내 </a:t>
            </a:r>
            <a:r>
              <a:rPr lang="ko-KR" altLang="en-US" sz="1600" dirty="0">
                <a:solidFill>
                  <a:srgbClr val="FF0000"/>
                </a:solidFill>
              </a:rPr>
              <a:t>컴퓨터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스마트폰</a:t>
            </a:r>
            <a:r>
              <a:rPr lang="en-US" altLang="ko-KR" sz="1600" dirty="0">
                <a:solidFill>
                  <a:srgbClr val="FF0000"/>
                </a:solidFill>
              </a:rPr>
              <a:t>) </a:t>
            </a:r>
            <a:r>
              <a:rPr lang="en-US" sz="1600" dirty="0" err="1">
                <a:solidFill>
                  <a:srgbClr val="FF0000"/>
                </a:solidFill>
              </a:rPr>
              <a:t>파일을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열고, 만들고, 저장한다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폴더째 여러 파일을 한 번에 처리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나는 지시하고 검토만 한다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에이전트에게 필요한 건 '좋은 질문'보다 </a:t>
            </a:r>
            <a:r>
              <a:rPr lang="en-US" sz="2000" b="1" dirty="0">
                <a:solidFill>
                  <a:schemeClr val="accent3"/>
                </a:solidFill>
              </a:rPr>
              <a:t>'좋은 업무 인수인계'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완성품부터 봅시다</a:t>
            </a:r>
            <a:r>
              <a:rPr lang="en-US" altLang="ko-KR" sz="3000" b="1" dirty="0">
                <a:solidFill>
                  <a:schemeClr val="tx1"/>
                </a:solidFill>
              </a:rPr>
              <a:t>.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Lv.0  완성품 시연</a:t>
            </a:r>
            <a:endParaRPr lang="en-US" sz="1300" dirty="0"/>
          </a:p>
        </p:txBody>
      </p:sp>
      <p:pic>
        <p:nvPicPr>
          <p:cNvPr id="6" name="아이콘 LuFolderInpu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25" y="2007565"/>
            <a:ext cx="419710" cy="419710"/>
          </a:xfrm>
          <a:prstGeom prst="rect">
            <a:avLst/>
          </a:prstGeom>
        </p:spPr>
      </p:pic>
      <p:pic>
        <p:nvPicPr>
          <p:cNvPr id="18" name="아이콘 LuClipboardLis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2007565"/>
            <a:ext cx="419710" cy="419710"/>
          </a:xfrm>
          <a:prstGeom prst="rect">
            <a:avLst/>
          </a:prstGeom>
        </p:spPr>
      </p:pic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A0BC111-830B-4FBF-A1B1-2B376933C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071" y="1110635"/>
            <a:ext cx="6908585" cy="5285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완성품부터 봅시다</a:t>
            </a:r>
            <a:r>
              <a:rPr lang="en-US" altLang="ko-KR" sz="3000" b="1" dirty="0">
                <a:solidFill>
                  <a:schemeClr val="tx1"/>
                </a:solidFill>
              </a:rPr>
              <a:t>.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Lv.0  완성품 시연</a:t>
            </a:r>
            <a:endParaRPr lang="en-US" sz="1300" dirty="0"/>
          </a:p>
        </p:txBody>
      </p:sp>
      <p:pic>
        <p:nvPicPr>
          <p:cNvPr id="6" name="아이콘 LuFolderInpu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25" y="2007565"/>
            <a:ext cx="419710" cy="419710"/>
          </a:xfrm>
          <a:prstGeom prst="rect">
            <a:avLst/>
          </a:prstGeom>
        </p:spPr>
      </p:pic>
      <p:pic>
        <p:nvPicPr>
          <p:cNvPr id="18" name="아이콘 LuClipboardLis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2007565"/>
            <a:ext cx="419710" cy="419710"/>
          </a:xfrm>
          <a:prstGeom prst="rect">
            <a:avLst/>
          </a:prstGeom>
        </p:spPr>
      </p:pic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AF0867-AE1D-4603-85C0-45332A3B2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83" y="1160527"/>
            <a:ext cx="5535461" cy="453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5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쓰는 도구 — Claude Desktop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Lv.0  완성품 시연</a:t>
            </a:r>
            <a:endParaRPr lang="en-US" sz="1300" dirty="0"/>
          </a:p>
        </p:txBody>
      </p:sp>
      <p:graphicFrame>
        <p:nvGraphicFramePr>
          <p:cNvPr id="8" name="도구 비교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27804"/>
              </p:ext>
            </p:extLst>
          </p:nvPr>
        </p:nvGraphicFramePr>
        <p:xfrm>
          <a:off x="548640" y="1417320"/>
          <a:ext cx="11091672" cy="31821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Claude Desktop</a:t>
                      </a:r>
                      <a:endParaRPr lang="en-US" sz="1500" b="1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작업 공간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Cowork 탭에서 작업 폴더 지정 (2026AIDIGITAL-main · Lv4/Lv5 폴더)</a:t>
                      </a:r>
                      <a:endParaRPr lang="ko-KR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스킬 넣는 곳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Customize → Skills → zip 업로드  (설정 → 기능에서 코드 실행 켜기)</a:t>
                      </a:r>
                      <a:endParaRPr lang="ko-KR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스킬 부르기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설명에 맞으면 자동 호출 · "newsletter-writer 스킬로 …" 직접 지시</a:t>
                      </a:r>
                      <a:endParaRPr lang="ko-KR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스킬 만들기 도우미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"이 설계 카드로 스킬 만들어 줘" → zip으로 받아 업로드</a:t>
                      </a:r>
                      <a:endParaRPr lang="ko-KR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예약 실행</a:t>
                      </a:r>
                      <a:endParaRPr lang="en-US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/schedule 입력 · Scheduled → New task</a:t>
                      </a:r>
                      <a:endParaRPr lang="ko-KR" sz="15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공통점 상자"/>
          <p:cNvSpPr/>
          <p:nvPr/>
        </p:nvSpPr>
        <p:spPr>
          <a:xfrm>
            <a:off x="548640" y="48463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6" name="아이콘 원"/>
          <p:cNvSpPr/>
          <p:nvPr/>
        </p:nvSpPr>
        <p:spPr>
          <a:xfrm>
            <a:off x="777240" y="4965192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아이콘 LuLin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52" y="5108204"/>
            <a:ext cx="335768" cy="335768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600200" y="48463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한 번 만들면  </a:t>
            </a:r>
            <a:r>
              <a:rPr lang="en-US" sz="1800" b="1" dirty="0">
                <a:solidFill>
                  <a:schemeClr val="bg1"/>
                </a:solidFill>
              </a:rPr>
              <a:t>스킬 폴더를 zip으로 묶어 동료에게 공유 → 받은 사람은 업로드만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3387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※ 설정 → 기능에서 코드 실행이 켜져 있어야 스킬 사용 가능 · Cowork·예약 실행은 요금제와 기관 정책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미션 1. 그냥 시켜 보기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Lv.1  그냥 시키기</a:t>
            </a:r>
            <a:endParaRPr lang="en-US" sz="1300" dirty="0"/>
          </a:p>
        </p:txBody>
      </p:sp>
      <p:sp>
        <p:nvSpPr>
          <p:cNvPr id="4" name="미션 라벨"/>
          <p:cNvSpPr/>
          <p:nvPr/>
        </p:nvSpPr>
        <p:spPr>
          <a:xfrm>
            <a:off x="548640" y="1298448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MISSION</a:t>
            </a:r>
            <a:endParaRPr lang="en-US" sz="1200" dirty="0"/>
          </a:p>
        </p:txBody>
      </p:sp>
      <p:sp>
        <p:nvSpPr>
          <p:cNvPr id="5" name="시간 라벨"/>
          <p:cNvSpPr/>
          <p:nvPr/>
        </p:nvSpPr>
        <p:spPr>
          <a:xfrm>
            <a:off x="1920240" y="1298448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제한 시간 8분</a:t>
            </a:r>
            <a:endParaRPr lang="en-US" sz="1200" dirty="0"/>
          </a:p>
        </p:txBody>
      </p:sp>
      <p:sp>
        <p:nvSpPr>
          <p:cNvPr id="6" name="미션 카드"/>
          <p:cNvSpPr/>
          <p:nvPr/>
        </p:nvSpPr>
        <p:spPr>
          <a:xfrm>
            <a:off x="548640" y="1828800"/>
            <a:ext cx="63093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/>
        </p:spPr>
      </p:sp>
      <p:sp>
        <p:nvSpPr>
          <p:cNvPr id="7" name="단계 번호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299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가정통신문 폴더의 넷마블 운영계획서(hwpx)를 에이전트에게 준다</a:t>
            </a:r>
            <a:endParaRPr lang="en-US" sz="1600" dirty="0"/>
          </a:p>
        </p:txBody>
      </p:sp>
      <p:sp>
        <p:nvSpPr>
          <p:cNvPr id="9" name="단계 번호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986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"학부모용 가정통신문으로 만들어 줘" — 새 대화에서 3번 요청</a:t>
            </a:r>
            <a:endParaRPr lang="en-US" sz="1600" dirty="0"/>
          </a:p>
        </p:txBody>
      </p:sp>
      <p:sp>
        <p:nvSpPr>
          <p:cNvPr id="11" name="단계 번호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7673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세 결과를 나란히 놓고 비교한다</a:t>
            </a:r>
            <a:endParaRPr lang="en-US" sz="1600" dirty="0"/>
          </a:p>
        </p:txBody>
      </p:sp>
      <p:sp>
        <p:nvSpPr>
          <p:cNvPr id="13" name="완료 조건 상자"/>
          <p:cNvSpPr/>
          <p:nvPr/>
        </p:nvSpPr>
        <p:spPr>
          <a:xfrm>
            <a:off x="822960" y="4800600"/>
            <a:ext cx="5760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4" name="체크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01768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00200" y="4800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완료 조건  </a:t>
            </a:r>
            <a:r>
              <a:rPr lang="en-US" sz="1600" dirty="0">
                <a:solidFill>
                  <a:schemeClr val="tx1"/>
                </a:solidFill>
              </a:rPr>
              <a:t>세 결과의 차이점 3가지 찾기</a:t>
            </a:r>
            <a:endParaRPr lang="en-US" sz="1600" dirty="0"/>
          </a:p>
        </p:txBody>
      </p:sp>
      <p:sp>
        <p:nvSpPr>
          <p:cNvPr id="16" name="결과 카드 1"/>
          <p:cNvSpPr/>
          <p:nvPr/>
        </p:nvSpPr>
        <p:spPr>
          <a:xfrm>
            <a:off x="7178040" y="1828800"/>
            <a:ext cx="4462272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pic>
        <p:nvPicPr>
          <p:cNvPr id="17" name="결과 아이콘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0116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01000" y="1828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1회차   </a:t>
            </a:r>
            <a:r>
              <a:rPr lang="en-US" sz="1600" dirty="0">
                <a:solidFill>
                  <a:schemeClr val="tx1"/>
                </a:solidFill>
              </a:rPr>
              <a:t>표로 정리한 안내문</a:t>
            </a:r>
            <a:endParaRPr lang="en-US" sz="1600" dirty="0"/>
          </a:p>
        </p:txBody>
      </p:sp>
      <p:sp>
        <p:nvSpPr>
          <p:cNvPr id="19" name="결과 카드 2"/>
          <p:cNvSpPr/>
          <p:nvPr/>
        </p:nvSpPr>
        <p:spPr>
          <a:xfrm>
            <a:off x="7178040" y="2788920"/>
            <a:ext cx="4462272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pic>
        <p:nvPicPr>
          <p:cNvPr id="20" name="결과 아이콘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9718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01000" y="2788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2회차   </a:t>
            </a:r>
            <a:r>
              <a:rPr lang="en-US" sz="1600" dirty="0">
                <a:solidFill>
                  <a:schemeClr val="tx1"/>
                </a:solidFill>
              </a:rPr>
              <a:t>긴 편지 형식</a:t>
            </a:r>
            <a:endParaRPr lang="en-US" sz="1600" dirty="0"/>
          </a:p>
        </p:txBody>
      </p:sp>
      <p:sp>
        <p:nvSpPr>
          <p:cNvPr id="22" name="결과 카드 3"/>
          <p:cNvSpPr/>
          <p:nvPr/>
        </p:nvSpPr>
        <p:spPr>
          <a:xfrm>
            <a:off x="7178040" y="3749040"/>
            <a:ext cx="4462272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pic>
        <p:nvPicPr>
          <p:cNvPr id="23" name="결과 아이콘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9319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001000" y="3749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3회차   </a:t>
            </a:r>
            <a:r>
              <a:rPr lang="en-US" sz="1600" dirty="0">
                <a:solidFill>
                  <a:schemeClr val="tx1"/>
                </a:solidFill>
              </a:rPr>
              <a:t>개조식 목록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178040" y="4800600"/>
            <a:ext cx="4462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매번 형식·분량·말투가 다르다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4"/>
                </a:solidFill>
              </a:rPr>
              <a:t>→ 업무에 그대로 쓸 수 없다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39" name="실습 폴더 라벨"/>
          <p:cNvSpPr/>
          <p:nvPr/>
        </p:nvSpPr>
        <p:spPr>
          <a:xfrm>
            <a:off x="3840480" y="1298448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실습 폴더  Lv1_그냥시키기 / 미션1.md</a:t>
            </a:r>
            <a:endParaRPr lang="ko-KR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스킬 = 에이전트용 업무 인수인계서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Lv.2  스킬 만들기</a:t>
            </a:r>
            <a:endParaRPr lang="en-US" sz="1300" dirty="0"/>
          </a:p>
        </p:txBody>
      </p:sp>
      <p:sp>
        <p:nvSpPr>
          <p:cNvPr id="4" name="프롬프트만 줄 때"/>
          <p:cNvSpPr/>
          <p:nvPr/>
        </p:nvSpPr>
        <p:spPr>
          <a:xfrm>
            <a:off x="548640" y="1463040"/>
            <a:ext cx="1109167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아이콘 원"/>
          <p:cNvSpPr/>
          <p:nvPr/>
        </p:nvSpPr>
        <p:spPr>
          <a:xfrm>
            <a:off x="868680" y="2029968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아이콘 LuMessageSqua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76" y="2229764"/>
            <a:ext cx="469087" cy="4690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프롬프트만 줄 때</a:t>
            </a:r>
            <a:endParaRPr lang="en-US" sz="2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accent5"/>
                </a:solidFill>
              </a:rPr>
              <a:t>첫 출근한 선생님에게 말로만 설명</a:t>
            </a:r>
            <a:endParaRPr lang="en-US" sz="2100" dirty="0"/>
          </a:p>
        </p:txBody>
      </p:sp>
      <p:sp>
        <p:nvSpPr>
          <p:cNvPr id="8" name="특징 칩"/>
          <p:cNvSpPr/>
          <p:nvPr/>
        </p:nvSpPr>
        <p:spPr>
          <a:xfrm>
            <a:off x="5440680" y="2121408"/>
            <a:ext cx="1920240" cy="694944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매번 처음부터 다시 설명</a:t>
            </a:r>
            <a:endParaRPr lang="en-US" sz="1400" dirty="0"/>
          </a:p>
        </p:txBody>
      </p:sp>
      <p:sp>
        <p:nvSpPr>
          <p:cNvPr id="9" name="특징 칩"/>
          <p:cNvSpPr/>
          <p:nvPr/>
        </p:nvSpPr>
        <p:spPr>
          <a:xfrm>
            <a:off x="7498080" y="2121408"/>
            <a:ext cx="1920240" cy="694944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날마다 결과가 다름</a:t>
            </a:r>
            <a:endParaRPr lang="en-US" sz="1400" dirty="0"/>
          </a:p>
        </p:txBody>
      </p:sp>
      <p:sp>
        <p:nvSpPr>
          <p:cNvPr id="10" name="특징 칩"/>
          <p:cNvSpPr/>
          <p:nvPr/>
        </p:nvSpPr>
        <p:spPr>
          <a:xfrm>
            <a:off x="9555480" y="2121408"/>
            <a:ext cx="1920240" cy="694944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빠뜨린 건 알아서 추측</a:t>
            </a:r>
            <a:endParaRPr lang="en-US" sz="1400" dirty="0"/>
          </a:p>
        </p:txBody>
      </p:sp>
      <p:sp>
        <p:nvSpPr>
          <p:cNvPr id="11" name="스킬을 줄 때"/>
          <p:cNvSpPr/>
          <p:nvPr/>
        </p:nvSpPr>
        <p:spPr>
          <a:xfrm>
            <a:off x="548640" y="3749040"/>
            <a:ext cx="11091672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2" name="아이콘 원"/>
          <p:cNvSpPr/>
          <p:nvPr/>
        </p:nvSpPr>
        <p:spPr>
          <a:xfrm>
            <a:off x="868680" y="4315968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아이콘 LuNotebookPe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476" y="4515764"/>
            <a:ext cx="469087" cy="4690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6596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스킬을 줄 때</a:t>
            </a:r>
            <a:endParaRPr lang="en-US" sz="2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accent6"/>
                </a:solidFill>
              </a:rPr>
              <a:t>업무 인수인계서를 건넨 상태</a:t>
            </a:r>
            <a:endParaRPr lang="en-US" sz="2100" dirty="0"/>
          </a:p>
        </p:txBody>
      </p:sp>
      <p:sp>
        <p:nvSpPr>
          <p:cNvPr id="15" name="특징 칩"/>
          <p:cNvSpPr/>
          <p:nvPr/>
        </p:nvSpPr>
        <p:spPr>
          <a:xfrm>
            <a:off x="5440680" y="4407408"/>
            <a:ext cx="1920240" cy="694944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한 번 써 두면 재사용</a:t>
            </a:r>
            <a:endParaRPr lang="en-US" sz="1400" dirty="0"/>
          </a:p>
        </p:txBody>
      </p:sp>
      <p:sp>
        <p:nvSpPr>
          <p:cNvPr id="16" name="특징 칩"/>
          <p:cNvSpPr/>
          <p:nvPr/>
        </p:nvSpPr>
        <p:spPr>
          <a:xfrm>
            <a:off x="7498080" y="4407408"/>
            <a:ext cx="1920240" cy="694944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같은 기준·같은 형식</a:t>
            </a:r>
            <a:endParaRPr lang="en-US" sz="1400" dirty="0"/>
          </a:p>
        </p:txBody>
      </p:sp>
      <p:sp>
        <p:nvSpPr>
          <p:cNvPr id="17" name="특징 칩"/>
          <p:cNvSpPr/>
          <p:nvPr/>
        </p:nvSpPr>
        <p:spPr>
          <a:xfrm>
            <a:off x="9555480" y="4407408"/>
            <a:ext cx="1920240" cy="694944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동료에게 그대로 전달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스킬 설계 카드 — 5칸만 채우면 된다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Lv.2  스킬 만들기</a:t>
            </a:r>
            <a:endParaRPr lang="en-US" sz="1300" dirty="0"/>
          </a:p>
        </p:txBody>
      </p:sp>
      <p:sp>
        <p:nvSpPr>
          <p:cNvPr id="4" name="설계 칸 1"/>
          <p:cNvSpPr/>
          <p:nvPr/>
        </p:nvSpPr>
        <p:spPr>
          <a:xfrm>
            <a:off x="548640" y="1417320"/>
            <a:ext cx="2036003" cy="310896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5" name="칸 번호"/>
          <p:cNvSpPr/>
          <p:nvPr/>
        </p:nvSpPr>
        <p:spPr>
          <a:xfrm>
            <a:off x="822960" y="169164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pic>
        <p:nvPicPr>
          <p:cNvPr id="6" name="칸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403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68880"/>
            <a:ext cx="153308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입력</a:t>
            </a:r>
            <a:endParaRPr lang="en-US" sz="20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어떤 파일이 어디로 들어오나?</a:t>
            </a:r>
            <a:endParaRPr lang="en-US" sz="2000" dirty="0"/>
          </a:p>
        </p:txBody>
      </p:sp>
      <p:sp>
        <p:nvSpPr>
          <p:cNvPr id="8" name="설계 칸 2"/>
          <p:cNvSpPr/>
          <p:nvPr/>
        </p:nvSpPr>
        <p:spPr>
          <a:xfrm>
            <a:off x="2813243" y="1417320"/>
            <a:ext cx="2036003" cy="310896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9" name="칸 번호"/>
          <p:cNvSpPr/>
          <p:nvPr/>
        </p:nvSpPr>
        <p:spPr>
          <a:xfrm>
            <a:off x="3087563" y="169164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pic>
        <p:nvPicPr>
          <p:cNvPr id="10" name="칸 아이콘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6" y="16916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7563" y="2468880"/>
            <a:ext cx="153308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절차</a:t>
            </a:r>
            <a:endParaRPr lang="en-US" sz="20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사람이 하던 순서대로 3~5단계</a:t>
            </a:r>
            <a:endParaRPr lang="en-US" sz="2000" dirty="0"/>
          </a:p>
        </p:txBody>
      </p:sp>
      <p:sp>
        <p:nvSpPr>
          <p:cNvPr id="12" name="설계 칸 3"/>
          <p:cNvSpPr/>
          <p:nvPr/>
        </p:nvSpPr>
        <p:spPr>
          <a:xfrm>
            <a:off x="5077846" y="1417320"/>
            <a:ext cx="2036003" cy="310896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13" name="칸 번호"/>
          <p:cNvSpPr/>
          <p:nvPr/>
        </p:nvSpPr>
        <p:spPr>
          <a:xfrm>
            <a:off x="5352166" y="169164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pic>
        <p:nvPicPr>
          <p:cNvPr id="14" name="칸 아이콘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609" y="1691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52166" y="2468880"/>
            <a:ext cx="153308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완료 기준</a:t>
            </a:r>
            <a:endParaRPr lang="en-US" sz="20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무엇이 나오면 끝인가? (파일명·양식·분량)</a:t>
            </a:r>
            <a:endParaRPr lang="en-US" sz="2000" dirty="0"/>
          </a:p>
        </p:txBody>
      </p:sp>
      <p:sp>
        <p:nvSpPr>
          <p:cNvPr id="16" name="설계 칸 4"/>
          <p:cNvSpPr/>
          <p:nvPr/>
        </p:nvSpPr>
        <p:spPr>
          <a:xfrm>
            <a:off x="7342449" y="1417320"/>
            <a:ext cx="2036003" cy="310896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17" name="칸 번호"/>
          <p:cNvSpPr/>
          <p:nvPr/>
        </p:nvSpPr>
        <p:spPr>
          <a:xfrm>
            <a:off x="7616769" y="169164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pic>
        <p:nvPicPr>
          <p:cNvPr id="18" name="칸 아이콘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1212" y="16916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16769" y="2468880"/>
            <a:ext cx="153308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개인정보</a:t>
            </a:r>
            <a:endParaRPr lang="en-US" sz="20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무엇을 가리고, 무엇을 넣지 않나?</a:t>
            </a:r>
            <a:endParaRPr lang="en-US" sz="2000" dirty="0"/>
          </a:p>
        </p:txBody>
      </p:sp>
      <p:sp>
        <p:nvSpPr>
          <p:cNvPr id="20" name="설계 칸 5"/>
          <p:cNvSpPr/>
          <p:nvPr/>
        </p:nvSpPr>
        <p:spPr>
          <a:xfrm>
            <a:off x="9607052" y="1417320"/>
            <a:ext cx="2036003" cy="310896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21" name="칸 번호"/>
          <p:cNvSpPr/>
          <p:nvPr/>
        </p:nvSpPr>
        <p:spPr>
          <a:xfrm>
            <a:off x="9881372" y="169164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pic>
        <p:nvPicPr>
          <p:cNvPr id="22" name="칸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5815" y="169164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881372" y="2468880"/>
            <a:ext cx="153308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사람 검토</a:t>
            </a:r>
            <a:endParaRPr lang="en-US" sz="20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어디서 반드시 사람이 확인하나?</a:t>
            </a:r>
            <a:endParaRPr lang="en-US" sz="2000" dirty="0"/>
          </a:p>
        </p:txBody>
      </p:sp>
      <p:sp>
        <p:nvSpPr>
          <p:cNvPr id="24" name="짝 점검 상자"/>
          <p:cNvSpPr/>
          <p:nvPr/>
        </p:nvSpPr>
        <p:spPr>
          <a:xfrm>
            <a:off x="548640" y="48463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5" name="아이콘 원"/>
          <p:cNvSpPr/>
          <p:nvPr/>
        </p:nvSpPr>
        <p:spPr>
          <a:xfrm>
            <a:off x="777240" y="4969764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아이콘 LuHandshak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252" y="5112776"/>
            <a:ext cx="335768" cy="33576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00200" y="48463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짝 점검 질문  </a:t>
            </a:r>
            <a:r>
              <a:rPr lang="en-US" sz="1800" b="1" dirty="0">
                <a:solidFill>
                  <a:schemeClr val="bg1"/>
                </a:solidFill>
              </a:rPr>
              <a:t>이 카드만 보고 다른 선생님이 같은 일을 해낼 수 있는가?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SKILL.md는 이렇게 생겼다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Lv.2  스킬 만들기</a:t>
            </a:r>
            <a:endParaRPr lang="en-US" sz="1300" dirty="0"/>
          </a:p>
        </p:txBody>
      </p:sp>
      <p:sp>
        <p:nvSpPr>
          <p:cNvPr id="4" name="코드 패널"/>
          <p:cNvSpPr/>
          <p:nvPr/>
        </p:nvSpPr>
        <p:spPr>
          <a:xfrm>
            <a:off x="548640" y="1371600"/>
            <a:ext cx="6035040" cy="46634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5" name="SKILL.md 예시"/>
          <p:cNvSpPr txBox="1"/>
          <p:nvPr/>
        </p:nvSpPr>
        <p:spPr>
          <a:xfrm>
            <a:off x="822960" y="16002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newsletter-writer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행사 운영계획서를 학교 양식 가정통신문(hwpx)으로 만들 때 사용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입력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가정통신문/ 폴더의 운영계획서(hwpx)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절차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행사명·일시·장소·일정·준비물 추출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assets/ 양식의 빈칸만 채우기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output/에 '가정통신문_행사명'으로 저장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완료 기준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일시·장소·일정·준비물 빠짐없음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계획서에 없는 내용은 [확인 필요]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사람 검토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발송 전 담당 교사가 최종 확인</a:t>
            </a:r>
            <a:endParaRPr lang="en-US" sz="1300" dirty="0"/>
          </a:p>
        </p:txBody>
      </p:sp>
      <p:sp>
        <p:nvSpPr>
          <p:cNvPr id="6" name="설명 1"/>
          <p:cNvSpPr/>
          <p:nvPr/>
        </p:nvSpPr>
        <p:spPr>
          <a:xfrm>
            <a:off x="6858000" y="1371600"/>
            <a:ext cx="4782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866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①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57276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이름·설명 (name, description)</a:t>
            </a:r>
            <a:endParaRPr lang="en-US" sz="17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에이전트가 '언제 이 스킬을 쓸지' 판단하는 기준 → 상황을 구체적으로</a:t>
            </a:r>
            <a:endParaRPr lang="en-US" sz="1700" dirty="0"/>
          </a:p>
        </p:txBody>
      </p:sp>
      <p:sp>
        <p:nvSpPr>
          <p:cNvPr id="9" name="설명 2"/>
          <p:cNvSpPr/>
          <p:nvPr/>
        </p:nvSpPr>
        <p:spPr>
          <a:xfrm>
            <a:off x="6858000" y="2971800"/>
            <a:ext cx="4782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866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17296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본문</a:t>
            </a:r>
            <a:endParaRPr lang="en-US" sz="17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설계 카드 5칸을 그대로 옮긴 것 — 입력·절차·완료 기준·사람 검토</a:t>
            </a:r>
            <a:endParaRPr lang="en-US" sz="1700" dirty="0"/>
          </a:p>
        </p:txBody>
      </p:sp>
      <p:sp>
        <p:nvSpPr>
          <p:cNvPr id="12" name="설명 3"/>
          <p:cNvSpPr/>
          <p:nvPr/>
        </p:nvSpPr>
        <p:spPr>
          <a:xfrm>
            <a:off x="6858000" y="4572000"/>
            <a:ext cx="4782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77316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함께 넣는 폴더</a:t>
            </a:r>
            <a:endParaRPr lang="en-US" sz="17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assets/ 양식 파일 · examples/ 입력·결과 예시 · scripts/ 필요할 때만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미션 2. 설계 카드를 스킬로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Lv.2  스킬 만들기</a:t>
            </a:r>
            <a:endParaRPr lang="en-US" sz="1300" dirty="0"/>
          </a:p>
        </p:txBody>
      </p:sp>
      <p:sp>
        <p:nvSpPr>
          <p:cNvPr id="4" name="미션 라벨"/>
          <p:cNvSpPr/>
          <p:nvPr/>
        </p:nvSpPr>
        <p:spPr>
          <a:xfrm>
            <a:off x="548640" y="1298448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MISSION</a:t>
            </a:r>
            <a:endParaRPr lang="en-US" sz="1200" dirty="0"/>
          </a:p>
        </p:txBody>
      </p:sp>
      <p:sp>
        <p:nvSpPr>
          <p:cNvPr id="5" name="시간 라벨"/>
          <p:cNvSpPr/>
          <p:nvPr/>
        </p:nvSpPr>
        <p:spPr>
          <a:xfrm>
            <a:off x="1920240" y="1298448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제한 시간 12분</a:t>
            </a:r>
            <a:endParaRPr lang="en-US" sz="1200" dirty="0"/>
          </a:p>
        </p:txBody>
      </p:sp>
      <p:sp>
        <p:nvSpPr>
          <p:cNvPr id="6" name="단계 카드 1"/>
          <p:cNvSpPr/>
          <p:nvPr/>
        </p:nvSpPr>
        <p:spPr>
          <a:xfrm>
            <a:off x="548640" y="1874520"/>
            <a:ext cx="3515258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/>
        </p:spPr>
      </p:sp>
      <p:sp>
        <p:nvSpPr>
          <p:cNvPr id="7" name="아이콘 원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아이콘 LuNotebookPe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45" y="2373325"/>
            <a:ext cx="419710" cy="4197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829458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STEP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2920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설계 카드 쓰기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공통 예제(가정통신문) 또는 내 업무 하나를 5칸에 정리</a:t>
            </a:r>
            <a:endParaRPr lang="en-US" sz="2000" dirty="0"/>
          </a:p>
        </p:txBody>
      </p:sp>
      <p:sp>
        <p:nvSpPr>
          <p:cNvPr id="11" name="단계 카드 2"/>
          <p:cNvSpPr/>
          <p:nvPr/>
        </p:nvSpPr>
        <p:spPr>
          <a:xfrm>
            <a:off x="4338218" y="1874520"/>
            <a:ext cx="3515258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/>
        </p:spPr>
      </p:sp>
      <p:sp>
        <p:nvSpPr>
          <p:cNvPr id="12" name="아이콘 원"/>
          <p:cNvSpPr/>
          <p:nvPr/>
        </p:nvSpPr>
        <p:spPr>
          <a:xfrm>
            <a:off x="4658258" y="21945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아이콘 LuWandSparkle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024" y="2373325"/>
            <a:ext cx="419710" cy="4197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19037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STEP 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58258" y="3154680"/>
            <a:ext cx="2920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스킬로 변환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Cowork에 설계 카드를 주고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"이 카드로 스킬 만들어 줘" → zip 업로드</a:t>
            </a:r>
            <a:endParaRPr lang="en-US" sz="2000" dirty="0"/>
          </a:p>
        </p:txBody>
      </p:sp>
      <p:sp>
        <p:nvSpPr>
          <p:cNvPr id="16" name="단계 카드 3"/>
          <p:cNvSpPr/>
          <p:nvPr/>
        </p:nvSpPr>
        <p:spPr>
          <a:xfrm>
            <a:off x="8127797" y="1874520"/>
            <a:ext cx="3515258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/>
        </p:spPr>
      </p:sp>
      <p:sp>
        <p:nvSpPr>
          <p:cNvPr id="17" name="아이콘 원"/>
          <p:cNvSpPr/>
          <p:nvPr/>
        </p:nvSpPr>
        <p:spPr>
          <a:xfrm>
            <a:off x="8447837" y="21945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아이콘 LuRepea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602" y="2373325"/>
            <a:ext cx="419710" cy="4197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408615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STEP 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47837" y="3154680"/>
            <a:ext cx="29208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3번 실행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같은 운영계획서로 3번 실행하고 미션 1과 비교</a:t>
            </a:r>
            <a:endParaRPr lang="en-US" sz="2000" dirty="0"/>
          </a:p>
        </p:txBody>
      </p:sp>
      <p:sp>
        <p:nvSpPr>
          <p:cNvPr id="21" name="완료 조건 상자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pic>
        <p:nvPicPr>
          <p:cNvPr id="22" name="체크 아이콘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12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완료 조건  </a:t>
            </a:r>
            <a:r>
              <a:rPr lang="en-US" sz="1800" b="1" dirty="0">
                <a:solidFill>
                  <a:schemeClr val="bg1"/>
                </a:solidFill>
              </a:rPr>
              <a:t>3번 모두 같은 형식으로 나온다  +  짝이 내 설계 카드를 읽고 OK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40" name="실습 폴더 라벨"/>
          <p:cNvSpPr/>
          <p:nvPr/>
        </p:nvSpPr>
        <p:spPr>
          <a:xfrm>
            <a:off x="3840480" y="1298448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실습 폴더  Lv2_스킬만들기 / 미션2.md</a:t>
            </a:r>
            <a:endParaRPr lang="ko-KR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학교 문서는 양식이 생명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Lv.3  양식 지키기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</a:rPr>
              <a:t>에이전트에게 양식 문서를 맡기면 자주 생기는 실패 3가지</a:t>
            </a:r>
            <a:endParaRPr lang="en-US" sz="1700" dirty="0"/>
          </a:p>
        </p:txBody>
      </p:sp>
      <p:sp>
        <p:nvSpPr>
          <p:cNvPr id="5" name="실패 카드 1"/>
          <p:cNvSpPr/>
          <p:nvPr/>
        </p:nvSpPr>
        <p:spPr>
          <a:xfrm>
            <a:off x="548640" y="1874520"/>
            <a:ext cx="3511296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아이콘 원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아이콘 LuTabl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1" y="2383841"/>
            <a:ext cx="444398" cy="4443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43200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실패 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004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표가 깨진다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칸이 합쳐지거나 줄 수가 바뀐다</a:t>
            </a:r>
            <a:endParaRPr lang="en-US" sz="2200" dirty="0"/>
          </a:p>
        </p:txBody>
      </p:sp>
      <p:sp>
        <p:nvSpPr>
          <p:cNvPr id="10" name="실패 카드 2"/>
          <p:cNvSpPr/>
          <p:nvPr/>
        </p:nvSpPr>
        <p:spPr>
          <a:xfrm>
            <a:off x="4334256" y="1874520"/>
            <a:ext cx="3511296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아이콘 원"/>
          <p:cNvSpPr/>
          <p:nvPr/>
        </p:nvSpPr>
        <p:spPr>
          <a:xfrm>
            <a:off x="4654296" y="2194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아이콘 LuTyp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577" y="2383841"/>
            <a:ext cx="444398" cy="444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28816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실패 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54296" y="32004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서식이 바뀐다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글꼴·정렬·여백이 원본과 달라진다</a:t>
            </a:r>
            <a:endParaRPr lang="en-US" sz="2200" dirty="0"/>
          </a:p>
        </p:txBody>
      </p:sp>
      <p:sp>
        <p:nvSpPr>
          <p:cNvPr id="15" name="실패 카드 3"/>
          <p:cNvSpPr/>
          <p:nvPr/>
        </p:nvSpPr>
        <p:spPr>
          <a:xfrm>
            <a:off x="8119872" y="1874520"/>
            <a:ext cx="3511296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아이콘 원"/>
          <p:cNvSpPr/>
          <p:nvPr/>
        </p:nvSpPr>
        <p:spPr>
          <a:xfrm>
            <a:off x="8439912" y="2194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아이콘 LuFileQuesti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193" y="2383841"/>
            <a:ext cx="444398" cy="444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314432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실패 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39912" y="32004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내용을 지어낸다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모르는 빈칸을 그럴듯한 말로 채운다</a:t>
            </a:r>
            <a:endParaRPr lang="en-US" sz="2200" dirty="0"/>
          </a:p>
        </p:txBody>
      </p:sp>
      <p:sp>
        <p:nvSpPr>
          <p:cNvPr id="20" name="목표 상자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1" name="아이콘 원"/>
          <p:cNvSpPr/>
          <p:nvPr/>
        </p:nvSpPr>
        <p:spPr>
          <a:xfrm>
            <a:off x="777240" y="5084064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아이콘 LuShieldChe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65" y="5235489"/>
            <a:ext cx="355519" cy="35551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49377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Lv.3의 목표: 이 세 가지를 스킬 규칙으로 막는다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양식 스킬 만드는 4단계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Lv.3  양식 지키기</a:t>
            </a:r>
            <a:endParaRPr lang="en-US" sz="1300" dirty="0"/>
          </a:p>
        </p:txBody>
      </p:sp>
      <p:sp>
        <p:nvSpPr>
          <p:cNvPr id="4" name="단계 번호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양식을 hwpx로 저장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한글에서 '다른 이름으로 저장 → HWPX'. hwp보다 에이전트가 읽고 쓰기 쉽다</a:t>
            </a:r>
            <a:endParaRPr lang="en-US" sz="1900" dirty="0"/>
          </a:p>
        </p:txBody>
      </p:sp>
      <p:sp>
        <p:nvSpPr>
          <p:cNvPr id="6" name="단계 번호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58775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빈 양식을 assets/에 넣기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스킬 폴더 안에 원본 양식을 그대로 넣어 둔다</a:t>
            </a:r>
            <a:endParaRPr lang="en-US" sz="1900" dirty="0"/>
          </a:p>
        </p:txBody>
      </p:sp>
      <p:sp>
        <p:nvSpPr>
          <p:cNvPr id="8" name="단계 번호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758184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규칙 쓰기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'양식 구조는 바꾸지 말고 빈칸만 채운다', '모르는 칸은 [확인 필요]'</a:t>
            </a:r>
            <a:endParaRPr lang="en-US" sz="1900" dirty="0"/>
          </a:p>
        </p:txBody>
      </p:sp>
      <p:sp>
        <p:nvSpPr>
          <p:cNvPr id="10" name="단계 번호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928616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원본과 비교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결과 파일을 원본 양식과 나란히 열어 표·서식을 확인한다</a:t>
            </a:r>
            <a:endParaRPr lang="en-US" sz="1900" dirty="0"/>
          </a:p>
        </p:txBody>
      </p:sp>
      <p:sp>
        <p:nvSpPr>
          <p:cNvPr id="12" name="폴더 구조 패널"/>
          <p:cNvSpPr/>
          <p:nvPr/>
        </p:nvSpPr>
        <p:spPr>
          <a:xfrm>
            <a:off x="7315200" y="1417320"/>
            <a:ext cx="4325112" cy="4526280"/>
          </a:xfrm>
          <a:prstGeom prst="roundRect">
            <a:avLst>
              <a:gd name="adj" fmla="val 253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스킬 폴더 예시</a:t>
            </a:r>
            <a:endParaRPr lang="en-US" sz="1500" dirty="0"/>
          </a:p>
        </p:txBody>
      </p:sp>
      <p:sp>
        <p:nvSpPr>
          <p:cNvPr id="14" name="폴더 트리"/>
          <p:cNvSpPr txBox="1"/>
          <p:nvPr/>
        </p:nvSpPr>
        <p:spPr>
          <a:xfrm>
            <a:off x="7589520" y="214884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event-package/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SKILL.md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assets/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 가정통신문_양식.hwpx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 안전점검표_양식.hwpx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 안전교육확인서_양식.hwpx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 결과보고서_양식.hwpx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examples/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미션 3. 행사 원스톱 패키지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Lv.3  양식 지키기</a:t>
            </a:r>
            <a:endParaRPr lang="en-US" sz="1300" dirty="0"/>
          </a:p>
        </p:txBody>
      </p:sp>
      <p:sp>
        <p:nvSpPr>
          <p:cNvPr id="4" name="미션 라벨"/>
          <p:cNvSpPr/>
          <p:nvPr/>
        </p:nvSpPr>
        <p:spPr>
          <a:xfrm>
            <a:off x="548640" y="1298448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MISSION</a:t>
            </a:r>
            <a:endParaRPr lang="en-US" sz="1200" dirty="0"/>
          </a:p>
        </p:txBody>
      </p:sp>
      <p:sp>
        <p:nvSpPr>
          <p:cNvPr id="5" name="시간 라벨"/>
          <p:cNvSpPr/>
          <p:nvPr/>
        </p:nvSpPr>
        <p:spPr>
          <a:xfrm>
            <a:off x="1920240" y="1298448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제한 시간 20분</a:t>
            </a:r>
            <a:endParaRPr lang="en-US" sz="1200" dirty="0"/>
          </a:p>
        </p:txBody>
      </p:sp>
      <p:sp>
        <p:nvSpPr>
          <p:cNvPr id="6" name="입력 카드"/>
          <p:cNvSpPr/>
          <p:nvPr/>
        </p:nvSpPr>
        <p:spPr>
          <a:xfrm>
            <a:off x="548640" y="1874520"/>
            <a:ext cx="416052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입력: 넷마블 운영계획서(hwpx)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행사명: AI·SW 꿈키움 현장체험학습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일시: 12. 13. 08:00~19:30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장소: 넷마블 게임 박물관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대상: 2학년 9명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준비물: 필기도구, 비상약, 물</a:t>
            </a:r>
            <a:endParaRPr lang="en-US" sz="1500" dirty="0"/>
          </a:p>
        </p:txBody>
      </p:sp>
      <p:pic>
        <p:nvPicPr>
          <p:cNvPr id="9" name="화살표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136392"/>
            <a:ext cx="457200" cy="457200"/>
          </a:xfrm>
          <a:prstGeom prst="rect">
            <a:avLst/>
          </a:prstGeom>
        </p:spPr>
      </p:pic>
      <p:sp>
        <p:nvSpPr>
          <p:cNvPr id="10" name="결과 카드 1"/>
          <p:cNvSpPr/>
          <p:nvPr/>
        </p:nvSpPr>
        <p:spPr>
          <a:xfrm>
            <a:off x="5440680" y="1874520"/>
            <a:ext cx="296265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</p:spPr>
      </p:sp>
      <p:sp>
        <p:nvSpPr>
          <p:cNvPr id="11" name="아이콘 원"/>
          <p:cNvSpPr/>
          <p:nvPr/>
        </p:nvSpPr>
        <p:spPr>
          <a:xfrm>
            <a:off x="5715000" y="2176272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아이콘 LuFileTex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250" y="2344522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29400" y="18745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안전교육 확인서</a:t>
            </a:r>
            <a:endParaRPr lang="en-US" sz="1800" dirty="0"/>
          </a:p>
        </p:txBody>
      </p:sp>
      <p:sp>
        <p:nvSpPr>
          <p:cNvPr id="14" name="결과 카드 2"/>
          <p:cNvSpPr/>
          <p:nvPr/>
        </p:nvSpPr>
        <p:spPr>
          <a:xfrm>
            <a:off x="8677656" y="1874520"/>
            <a:ext cx="296265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</p:spPr>
      </p:sp>
      <p:sp>
        <p:nvSpPr>
          <p:cNvPr id="15" name="아이콘 원"/>
          <p:cNvSpPr/>
          <p:nvPr/>
        </p:nvSpPr>
        <p:spPr>
          <a:xfrm>
            <a:off x="8951976" y="2176272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아이콘 LuMail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226" y="234452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866376" y="18745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가정통신문</a:t>
            </a:r>
            <a:endParaRPr lang="en-US" sz="1800" dirty="0"/>
          </a:p>
        </p:txBody>
      </p:sp>
      <p:sp>
        <p:nvSpPr>
          <p:cNvPr id="18" name="결과 카드 3"/>
          <p:cNvSpPr/>
          <p:nvPr/>
        </p:nvSpPr>
        <p:spPr>
          <a:xfrm>
            <a:off x="5440680" y="3474720"/>
            <a:ext cx="296265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</p:spPr>
      </p:sp>
      <p:sp>
        <p:nvSpPr>
          <p:cNvPr id="19" name="아이콘 원"/>
          <p:cNvSpPr/>
          <p:nvPr/>
        </p:nvSpPr>
        <p:spPr>
          <a:xfrm>
            <a:off x="5715000" y="3776472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아이콘 LuClipboardChe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3250" y="3944722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29400" y="34747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안전점검표</a:t>
            </a:r>
            <a:endParaRPr lang="en-US" sz="1800" dirty="0"/>
          </a:p>
        </p:txBody>
      </p:sp>
      <p:sp>
        <p:nvSpPr>
          <p:cNvPr id="22" name="결과 카드 4"/>
          <p:cNvSpPr/>
          <p:nvPr/>
        </p:nvSpPr>
        <p:spPr>
          <a:xfrm>
            <a:off x="8677656" y="3474720"/>
            <a:ext cx="296265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</p:spPr>
      </p:sp>
      <p:sp>
        <p:nvSpPr>
          <p:cNvPr id="23" name="아이콘 원"/>
          <p:cNvSpPr/>
          <p:nvPr/>
        </p:nvSpPr>
        <p:spPr>
          <a:xfrm>
            <a:off x="8951976" y="3776472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아이콘 LuFileSpreadsheet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226" y="3944722"/>
            <a:ext cx="395021" cy="39502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866376" y="34747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결과보고 틀</a:t>
            </a:r>
            <a:endParaRPr lang="en-US" sz="1800" dirty="0"/>
          </a:p>
        </p:txBody>
      </p:sp>
      <p:sp>
        <p:nvSpPr>
          <p:cNvPr id="26" name="완료 조건 상자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pic>
        <p:nvPicPr>
          <p:cNvPr id="27" name="체크 아이콘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28066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63040" y="50749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완료 조건  </a:t>
            </a:r>
            <a:r>
              <a:rPr lang="en-US" sz="1600" b="1" dirty="0">
                <a:solidFill>
                  <a:schemeClr val="bg1"/>
                </a:solidFill>
              </a:rPr>
              <a:t>4개 모두 원본 양식 그대로 · 빈칸만 채움 · 모르는 건 [확인 필요] · 고치기 루프 1회 이상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41" name="실습 폴더 라벨"/>
          <p:cNvSpPr/>
          <p:nvPr/>
        </p:nvSpPr>
        <p:spPr>
          <a:xfrm>
            <a:off x="3840480" y="1298448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실습 폴더  Lv3_양식지키기 / 미션3.md</a:t>
            </a:r>
            <a:endParaRPr lang="ko-KR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고치기 루프 — 스킬은 실패할 때마다 자란다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Lv.3  양식 지키기</a:t>
            </a:r>
            <a:endParaRPr lang="en-US" sz="1300" dirty="0"/>
          </a:p>
        </p:txBody>
      </p:sp>
      <p:sp>
        <p:nvSpPr>
          <p:cNvPr id="4" name="루프 단계"/>
          <p:cNvSpPr/>
          <p:nvPr/>
        </p:nvSpPr>
        <p:spPr>
          <a:xfrm>
            <a:off x="548640" y="1508760"/>
            <a:ext cx="2468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pic>
        <p:nvPicPr>
          <p:cNvPr id="5" name="단계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50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실행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스킬로 문서 생성</a:t>
            </a:r>
            <a:endParaRPr lang="en-US" sz="1900" dirty="0"/>
          </a:p>
        </p:txBody>
      </p:sp>
      <p:sp>
        <p:nvSpPr>
          <p:cNvPr id="7" name="루프 단계"/>
          <p:cNvSpPr/>
          <p:nvPr/>
        </p:nvSpPr>
        <p:spPr>
          <a:xfrm>
            <a:off x="3749040" y="1508760"/>
            <a:ext cx="2468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pic>
        <p:nvPicPr>
          <p:cNvPr id="8" name="단계 아이콘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7830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023360" y="2350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확인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깨진 곳·지어낸 곳 찾기</a:t>
            </a:r>
            <a:endParaRPr lang="en-US" sz="1900" dirty="0"/>
          </a:p>
        </p:txBody>
      </p:sp>
      <p:sp>
        <p:nvSpPr>
          <p:cNvPr id="10" name="루프 단계"/>
          <p:cNvSpPr/>
          <p:nvPr/>
        </p:nvSpPr>
        <p:spPr>
          <a:xfrm>
            <a:off x="3749040" y="3977640"/>
            <a:ext cx="2468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pic>
        <p:nvPicPr>
          <p:cNvPr id="11" name="단계 아이콘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251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48188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규칙 추가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SKILL.md에 한 줄 추가</a:t>
            </a:r>
            <a:endParaRPr lang="en-US" sz="1900" dirty="0"/>
          </a:p>
        </p:txBody>
      </p:sp>
      <p:sp>
        <p:nvSpPr>
          <p:cNvPr id="13" name="루프 단계"/>
          <p:cNvSpPr/>
          <p:nvPr/>
        </p:nvSpPr>
        <p:spPr>
          <a:xfrm>
            <a:off x="548640" y="3977640"/>
            <a:ext cx="2468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pic>
        <p:nvPicPr>
          <p:cNvPr id="14" name="단계 아이콘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519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" y="48188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재실행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같은 입력으로 다시</a:t>
            </a:r>
            <a:endParaRPr lang="en-US" sz="1900" dirty="0"/>
          </a:p>
        </p:txBody>
      </p:sp>
      <p:sp>
        <p:nvSpPr>
          <p:cNvPr id="16" name="화살표"/>
          <p:cNvSpPr/>
          <p:nvPr/>
        </p:nvSpPr>
        <p:spPr>
          <a:xfrm>
            <a:off x="3108960" y="2354580"/>
            <a:ext cx="548640" cy="0"/>
          </a:xfrm>
          <a:prstGeom prst="line">
            <a:avLst/>
          </a:prstGeom>
          <a:noFill/>
          <a:ln w="31750">
            <a:solidFill>
              <a:srgbClr val="2E8B7A"/>
            </a:solidFill>
            <a:prstDash val="solid"/>
            <a:tailEnd type="triangle"/>
          </a:ln>
        </p:spPr>
      </p:sp>
      <p:sp>
        <p:nvSpPr>
          <p:cNvPr id="17" name="화살표"/>
          <p:cNvSpPr/>
          <p:nvPr/>
        </p:nvSpPr>
        <p:spPr>
          <a:xfrm>
            <a:off x="4983480" y="3291840"/>
            <a:ext cx="0" cy="594360"/>
          </a:xfrm>
          <a:prstGeom prst="line">
            <a:avLst/>
          </a:prstGeom>
          <a:noFill/>
          <a:ln w="31750">
            <a:solidFill>
              <a:srgbClr val="2E8B7A"/>
            </a:solidFill>
            <a:prstDash val="solid"/>
            <a:tailEnd type="triangle"/>
          </a:ln>
        </p:spPr>
      </p:sp>
      <p:sp>
        <p:nvSpPr>
          <p:cNvPr id="18" name="화살표"/>
          <p:cNvSpPr/>
          <p:nvPr/>
        </p:nvSpPr>
        <p:spPr>
          <a:xfrm flipH="1">
            <a:off x="3108960" y="4823460"/>
            <a:ext cx="548640" cy="0"/>
          </a:xfrm>
          <a:prstGeom prst="line">
            <a:avLst/>
          </a:prstGeom>
          <a:noFill/>
          <a:ln w="31750">
            <a:solidFill>
              <a:srgbClr val="2E8B7A"/>
            </a:solidFill>
            <a:prstDash val="solid"/>
            <a:tailEnd type="triangle"/>
          </a:ln>
        </p:spPr>
      </p:sp>
      <p:sp>
        <p:nvSpPr>
          <p:cNvPr id="19" name="화살표"/>
          <p:cNvSpPr/>
          <p:nvPr/>
        </p:nvSpPr>
        <p:spPr>
          <a:xfrm flipV="1">
            <a:off x="1783080" y="3291840"/>
            <a:ext cx="0" cy="594360"/>
          </a:xfrm>
          <a:prstGeom prst="line">
            <a:avLst/>
          </a:prstGeom>
          <a:noFill/>
          <a:ln w="31750">
            <a:solidFill>
              <a:srgbClr val="2E8B7A"/>
            </a:solidFill>
            <a:prstDash val="solid"/>
            <a:tailEnd type="triangle"/>
          </a:ln>
        </p:spPr>
      </p:sp>
      <p:sp>
        <p:nvSpPr>
          <p:cNvPr id="20" name="규칙 예시 패널"/>
          <p:cNvSpPr/>
          <p:nvPr/>
        </p:nvSpPr>
        <p:spPr>
          <a:xfrm>
            <a:off x="6675120" y="1508760"/>
            <a:ext cx="4965192" cy="4160520"/>
          </a:xfrm>
          <a:prstGeom prst="roundRect">
            <a:avLst>
              <a:gd name="adj" fmla="val 2637"/>
            </a:avLst>
          </a:prstGeom>
          <a:solidFill>
            <a:schemeClr val="tx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9494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실제로 추가되는 규칙 예시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28600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표의 행 수와 칸 합치기를 바꾸지 않는다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날짜는 '2026. 11. 20.(금)' 형식으로 쓴다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문의처는 계획서에 있는 번호만 쓴다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 이름은 '○○○'으로 가린다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4892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실패 1번 = 규칙 1줄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쉬는 시간 10분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803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6"/>
                </a:solidFill>
              </a:rPr>
              <a:t>설치·로그인 문제 해결 타임 — 막힌 분은 앞으로 오세요</a:t>
            </a:r>
            <a:endParaRPr lang="en-US" sz="2000" dirty="0"/>
          </a:p>
        </p:txBody>
      </p:sp>
      <p:sp>
        <p:nvSpPr>
          <p:cNvPr id="4" name="아이콘 원"/>
          <p:cNvSpPr/>
          <p:nvPr/>
        </p:nvSpPr>
        <p:spPr>
          <a:xfrm>
            <a:off x="731520" y="39776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아이콘 LuCoffe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230014"/>
            <a:ext cx="592531" cy="5925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3977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다음: Lv.4 스킬 연결 · Lv.5 검증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미션 4. 공문 해결사 — 스킬 3개 잇기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Lv.4  스킬 연결</a:t>
            </a:r>
            <a:endParaRPr lang="en-US" sz="1300" dirty="0"/>
          </a:p>
        </p:txBody>
      </p:sp>
      <p:sp>
        <p:nvSpPr>
          <p:cNvPr id="4" name="미션 라벨"/>
          <p:cNvSpPr/>
          <p:nvPr/>
        </p:nvSpPr>
        <p:spPr>
          <a:xfrm>
            <a:off x="548640" y="1298448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MISSION</a:t>
            </a:r>
            <a:endParaRPr lang="en-US" sz="1200" dirty="0"/>
          </a:p>
        </p:txBody>
      </p:sp>
      <p:sp>
        <p:nvSpPr>
          <p:cNvPr id="5" name="시간 라벨"/>
          <p:cNvSpPr/>
          <p:nvPr/>
        </p:nvSpPr>
        <p:spPr>
          <a:xfrm>
            <a:off x="1920240" y="1298448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제한 시간 12분</a:t>
            </a:r>
            <a:endParaRPr lang="en-US" sz="1200" dirty="0"/>
          </a:p>
        </p:txBody>
      </p:sp>
      <p:sp>
        <p:nvSpPr>
          <p:cNvPr id="6" name="파이프라인 단계"/>
          <p:cNvSpPr/>
          <p:nvPr/>
        </p:nvSpPr>
        <p:spPr>
          <a:xfrm>
            <a:off x="548640" y="18745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BFE0D8"/>
            </a:solidFill>
            <a:prstDash val="solid"/>
          </a:ln>
        </p:spPr>
      </p:sp>
      <p:pic>
        <p:nvPicPr>
          <p:cNvPr id="7" name="단계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30552"/>
            <a:ext cx="457200" cy="457200"/>
          </a:xfrm>
          <a:prstGeom prst="rect">
            <a:avLst/>
          </a:prstGeom>
        </p:spPr>
      </p:pic>
      <p:sp>
        <p:nvSpPr>
          <p:cNvPr id="8" name="단계 라벨"/>
          <p:cNvSpPr/>
          <p:nvPr/>
        </p:nvSpPr>
        <p:spPr>
          <a:xfrm>
            <a:off x="1938528" y="2167128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입력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input/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가상 공문 10건</a:t>
            </a:r>
            <a:endParaRPr lang="en-US" sz="1800" dirty="0"/>
          </a:p>
        </p:txBody>
      </p:sp>
      <p:pic>
        <p:nvPicPr>
          <p:cNvPr id="10" name="화살표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741" y="2679192"/>
            <a:ext cx="310896" cy="310896"/>
          </a:xfrm>
          <a:prstGeom prst="rect">
            <a:avLst/>
          </a:prstGeom>
        </p:spPr>
      </p:pic>
      <p:sp>
        <p:nvSpPr>
          <p:cNvPr id="11" name="파이프라인 단계"/>
          <p:cNvSpPr/>
          <p:nvPr/>
        </p:nvSpPr>
        <p:spPr>
          <a:xfrm>
            <a:off x="3454298" y="18745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pic>
        <p:nvPicPr>
          <p:cNvPr id="12" name="단계 아이콘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330" y="2130552"/>
            <a:ext cx="457200" cy="457200"/>
          </a:xfrm>
          <a:prstGeom prst="rect">
            <a:avLst/>
          </a:prstGeom>
        </p:spPr>
      </p:pic>
      <p:sp>
        <p:nvSpPr>
          <p:cNvPr id="13" name="단계 라벨"/>
          <p:cNvSpPr/>
          <p:nvPr/>
        </p:nvSpPr>
        <p:spPr>
          <a:xfrm>
            <a:off x="4844186" y="2167128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스킬 1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710330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공문 정리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기관·마감일·제출물·담당</a:t>
            </a:r>
            <a:endParaRPr lang="en-US" sz="1800" dirty="0"/>
          </a:p>
        </p:txBody>
      </p:sp>
      <p:sp>
        <p:nvSpPr>
          <p:cNvPr id="15" name="출력 연결선"/>
          <p:cNvSpPr/>
          <p:nvPr/>
        </p:nvSpPr>
        <p:spPr>
          <a:xfrm>
            <a:off x="4643018" y="3794760"/>
            <a:ext cx="0" cy="201168"/>
          </a:xfrm>
          <a:prstGeom prst="line">
            <a:avLst/>
          </a:prstGeom>
          <a:noFill/>
          <a:ln w="19050">
            <a:solidFill>
              <a:srgbClr val="2E8B7A"/>
            </a:solidFill>
            <a:prstDash val="solid"/>
          </a:ln>
        </p:spPr>
      </p:sp>
      <p:sp>
        <p:nvSpPr>
          <p:cNvPr id="16" name="출력 파일"/>
          <p:cNvSpPr/>
          <p:nvPr/>
        </p:nvSpPr>
        <p:spPr>
          <a:xfrm>
            <a:off x="3545738" y="3995928"/>
            <a:ext cx="219456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공문목록.xlsx</a:t>
            </a:r>
            <a:endParaRPr lang="en-US" sz="1300" dirty="0"/>
          </a:p>
        </p:txBody>
      </p:sp>
      <p:pic>
        <p:nvPicPr>
          <p:cNvPr id="17" name="화살표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2679192"/>
            <a:ext cx="310896" cy="310896"/>
          </a:xfrm>
          <a:prstGeom prst="rect">
            <a:avLst/>
          </a:prstGeom>
        </p:spPr>
      </p:pic>
      <p:sp>
        <p:nvSpPr>
          <p:cNvPr id="18" name="파이프라인 단계"/>
          <p:cNvSpPr/>
          <p:nvPr/>
        </p:nvSpPr>
        <p:spPr>
          <a:xfrm>
            <a:off x="6359957" y="18745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pic>
        <p:nvPicPr>
          <p:cNvPr id="19" name="단계 아이콘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989" y="2130552"/>
            <a:ext cx="457200" cy="457200"/>
          </a:xfrm>
          <a:prstGeom prst="rect">
            <a:avLst/>
          </a:prstGeom>
        </p:spPr>
      </p:pic>
      <p:sp>
        <p:nvSpPr>
          <p:cNvPr id="20" name="단계 라벨"/>
          <p:cNvSpPr/>
          <p:nvPr/>
        </p:nvSpPr>
        <p:spPr>
          <a:xfrm>
            <a:off x="7749845" y="2167128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스킬 2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615989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할 일 추출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마감 임박 순 정렬</a:t>
            </a:r>
            <a:endParaRPr lang="en-US" sz="1800" dirty="0"/>
          </a:p>
        </p:txBody>
      </p:sp>
      <p:sp>
        <p:nvSpPr>
          <p:cNvPr id="22" name="출력 연결선"/>
          <p:cNvSpPr/>
          <p:nvPr/>
        </p:nvSpPr>
        <p:spPr>
          <a:xfrm>
            <a:off x="7548677" y="3794760"/>
            <a:ext cx="0" cy="201168"/>
          </a:xfrm>
          <a:prstGeom prst="line">
            <a:avLst/>
          </a:prstGeom>
          <a:noFill/>
          <a:ln w="19050">
            <a:solidFill>
              <a:srgbClr val="2E8B7A"/>
            </a:solidFill>
            <a:prstDash val="solid"/>
          </a:ln>
        </p:spPr>
      </p:sp>
      <p:sp>
        <p:nvSpPr>
          <p:cNvPr id="23" name="출력 파일"/>
          <p:cNvSpPr/>
          <p:nvPr/>
        </p:nvSpPr>
        <p:spPr>
          <a:xfrm>
            <a:off x="6451397" y="3995928"/>
            <a:ext cx="219456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이번주_할일.md</a:t>
            </a:r>
            <a:endParaRPr lang="en-US" sz="1300" dirty="0"/>
          </a:p>
        </p:txBody>
      </p:sp>
      <p:pic>
        <p:nvPicPr>
          <p:cNvPr id="24" name="화살표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058" y="2679192"/>
            <a:ext cx="310896" cy="310896"/>
          </a:xfrm>
          <a:prstGeom prst="rect">
            <a:avLst/>
          </a:prstGeom>
        </p:spPr>
      </p:pic>
      <p:sp>
        <p:nvSpPr>
          <p:cNvPr id="25" name="파이프라인 단계"/>
          <p:cNvSpPr/>
          <p:nvPr/>
        </p:nvSpPr>
        <p:spPr>
          <a:xfrm>
            <a:off x="9265615" y="18745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pic>
        <p:nvPicPr>
          <p:cNvPr id="26" name="단계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1647" y="2130552"/>
            <a:ext cx="457200" cy="457200"/>
          </a:xfrm>
          <a:prstGeom prst="rect">
            <a:avLst/>
          </a:prstGeom>
        </p:spPr>
      </p:pic>
      <p:sp>
        <p:nvSpPr>
          <p:cNvPr id="27" name="단계 라벨"/>
          <p:cNvSpPr/>
          <p:nvPr/>
        </p:nvSpPr>
        <p:spPr>
          <a:xfrm>
            <a:off x="10655503" y="2167128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스킬 3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9521647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보고 초안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학교 양식으로 작성</a:t>
            </a:r>
            <a:endParaRPr lang="en-US" sz="1800" dirty="0"/>
          </a:p>
        </p:txBody>
      </p:sp>
      <p:sp>
        <p:nvSpPr>
          <p:cNvPr id="29" name="출력 연결선"/>
          <p:cNvSpPr/>
          <p:nvPr/>
        </p:nvSpPr>
        <p:spPr>
          <a:xfrm>
            <a:off x="10454335" y="3794760"/>
            <a:ext cx="0" cy="201168"/>
          </a:xfrm>
          <a:prstGeom prst="line">
            <a:avLst/>
          </a:prstGeom>
          <a:noFill/>
          <a:ln w="19050">
            <a:solidFill>
              <a:srgbClr val="2E8B7A"/>
            </a:solidFill>
            <a:prstDash val="solid"/>
          </a:ln>
        </p:spPr>
      </p:sp>
      <p:sp>
        <p:nvSpPr>
          <p:cNvPr id="30" name="출력 파일"/>
          <p:cNvSpPr/>
          <p:nvPr/>
        </p:nvSpPr>
        <p:spPr>
          <a:xfrm>
            <a:off x="9357055" y="3995928"/>
            <a:ext cx="219456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주간업무보고.hwpx</a:t>
            </a:r>
            <a:endParaRPr lang="en-US" sz="1300" dirty="0"/>
          </a:p>
        </p:txBody>
      </p:sp>
      <p:sp>
        <p:nvSpPr>
          <p:cNvPr id="31" name="연결 방법 상자"/>
          <p:cNvSpPr/>
          <p:nvPr/>
        </p:nvSpPr>
        <p:spPr>
          <a:xfrm>
            <a:off x="548640" y="4846320"/>
            <a:ext cx="69037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822960" y="4937760"/>
            <a:ext cx="6446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연결 방법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"gongmun-organizer → todo-extractor → weekly-report 순서로 실행해 줘" 한 줄 지시, 또는 SKILL.md 끝에 '다음 단계' 적기</a:t>
            </a:r>
            <a:endParaRPr lang="en-US" sz="1500" dirty="0"/>
          </a:p>
        </p:txBody>
      </p:sp>
      <p:sp>
        <p:nvSpPr>
          <p:cNvPr id="33" name="완료 조건 상자"/>
          <p:cNvSpPr/>
          <p:nvPr/>
        </p:nvSpPr>
        <p:spPr>
          <a:xfrm>
            <a:off x="7680960" y="4846320"/>
            <a:ext cx="3959352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7955280" y="49377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완료 조건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chemeClr val="bg1"/>
                </a:solidFill>
              </a:rPr>
              <a:t>한 번의 지시로 결과 파일 3개 생성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42" name="실습 폴더 라벨"/>
          <p:cNvSpPr/>
          <p:nvPr/>
        </p:nvSpPr>
        <p:spPr>
          <a:xfrm>
            <a:off x="3840480" y="1298448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실습 폴더  Lv4_스킬연결 / 미션4.md</a:t>
            </a:r>
            <a:endParaRPr lang="ko-KR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안전한 일괄 처리를 위한 폴더 규칙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Lv.4  스킬 연결</a:t>
            </a:r>
            <a:endParaRPr lang="en-US" sz="1300" dirty="0"/>
          </a:p>
        </p:txBody>
      </p:sp>
      <p:sp>
        <p:nvSpPr>
          <p:cNvPr id="4" name="폴더 타일"/>
          <p:cNvSpPr/>
          <p:nvPr/>
        </p:nvSpPr>
        <p:spPr>
          <a:xfrm>
            <a:off x="548640" y="1417320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/>
        </p:spPr>
      </p:sp>
      <p:pic>
        <p:nvPicPr>
          <p:cNvPr id="5" name="폴더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55064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17320"/>
            <a:ext cx="1463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input/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971800" y="1417320"/>
            <a:ext cx="2011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원본 · 읽기만</a:t>
            </a:r>
            <a:endParaRPr lang="en-US" sz="1500" dirty="0"/>
          </a:p>
        </p:txBody>
      </p:sp>
      <p:sp>
        <p:nvSpPr>
          <p:cNvPr id="8" name="폴더 타일"/>
          <p:cNvSpPr/>
          <p:nvPr/>
        </p:nvSpPr>
        <p:spPr>
          <a:xfrm>
            <a:off x="548640" y="2578608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</p:sp>
      <p:pic>
        <p:nvPicPr>
          <p:cNvPr id="9" name="폴더 아이콘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8163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578608"/>
            <a:ext cx="1463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work/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2578608"/>
            <a:ext cx="2011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중간 작업 파일</a:t>
            </a:r>
            <a:endParaRPr lang="en-US" sz="1500" dirty="0"/>
          </a:p>
        </p:txBody>
      </p:sp>
      <p:sp>
        <p:nvSpPr>
          <p:cNvPr id="12" name="폴더 타일"/>
          <p:cNvSpPr/>
          <p:nvPr/>
        </p:nvSpPr>
        <p:spPr>
          <a:xfrm>
            <a:off x="548640" y="3739896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</p:sp>
      <p:pic>
        <p:nvPicPr>
          <p:cNvPr id="13" name="폴더 아이콘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9776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739896"/>
            <a:ext cx="1463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3739896"/>
            <a:ext cx="2011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결과물만 저장</a:t>
            </a:r>
            <a:endParaRPr lang="en-US" sz="1500" dirty="0"/>
          </a:p>
        </p:txBody>
      </p:sp>
      <p:sp>
        <p:nvSpPr>
          <p:cNvPr id="16" name="폴더 타일"/>
          <p:cNvSpPr/>
          <p:nvPr/>
        </p:nvSpPr>
        <p:spPr>
          <a:xfrm>
            <a:off x="548640" y="4901184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</p:sp>
      <p:pic>
        <p:nvPicPr>
          <p:cNvPr id="17" name="폴더 아이콘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13892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901184"/>
            <a:ext cx="1463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log.md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2971800" y="4901184"/>
            <a:ext cx="2011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몇 건 처리·실패·이유</a:t>
            </a:r>
            <a:endParaRPr lang="en-US" sz="1500" dirty="0"/>
          </a:p>
        </p:txBody>
      </p:sp>
      <p:pic>
        <p:nvPicPr>
          <p:cNvPr id="20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1527048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217920" y="1463040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원본은 수정·삭제 금지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accent5"/>
                </a:solidFill>
              </a:rPr>
              <a:t>에이전트는 input/을 읽기만, 작업은 복사본으로</a:t>
            </a:r>
            <a:endParaRPr lang="en-US" sz="1800" dirty="0"/>
          </a:p>
        </p:txBody>
      </p:sp>
      <p:pic>
        <p:nvPicPr>
          <p:cNvPr id="22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2688336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17920" y="2624328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결과는 output/에만 저장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accent5"/>
                </a:solidFill>
              </a:rPr>
              <a:t>어디에 무엇이 생겼는지 항상 한 곳에서 확인</a:t>
            </a:r>
            <a:endParaRPr lang="en-US" sz="1800" dirty="0"/>
          </a:p>
        </p:txBody>
      </p:sp>
      <p:pic>
        <p:nvPicPr>
          <p:cNvPr id="24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84962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217920" y="3785616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처리 못 한 파일은 따로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accent5"/>
                </a:solidFill>
              </a:rPr>
              <a:t>'확인 필요' 목록으로 분리해 사람이 처리</a:t>
            </a:r>
            <a:endParaRPr lang="en-US" sz="1800" dirty="0"/>
          </a:p>
        </p:txBody>
      </p:sp>
      <p:pic>
        <p:nvPicPr>
          <p:cNvPr id="26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5010912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217920" y="4946904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파일명 규칙 지정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chemeClr val="accent5"/>
                </a:solidFill>
              </a:rPr>
              <a:t>날짜_업무명_버전 (예: 20261030_공문목록_v1.xlsx)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미션 5. 함정을 찾아라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Lv.5  검증</a:t>
            </a:r>
            <a:endParaRPr lang="en-US" sz="1300" dirty="0"/>
          </a:p>
        </p:txBody>
      </p:sp>
      <p:sp>
        <p:nvSpPr>
          <p:cNvPr id="4" name="미션 라벨"/>
          <p:cNvSpPr/>
          <p:nvPr/>
        </p:nvSpPr>
        <p:spPr>
          <a:xfrm>
            <a:off x="548640" y="1298448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MISSION</a:t>
            </a:r>
            <a:endParaRPr lang="en-US" sz="1200" dirty="0"/>
          </a:p>
        </p:txBody>
      </p:sp>
      <p:sp>
        <p:nvSpPr>
          <p:cNvPr id="5" name="시간 라벨"/>
          <p:cNvSpPr/>
          <p:nvPr/>
        </p:nvSpPr>
        <p:spPr>
          <a:xfrm>
            <a:off x="1920240" y="1298448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제한 시간 10분</a:t>
            </a:r>
            <a:endParaRPr lang="en-US" sz="1200" dirty="0"/>
          </a:p>
        </p:txBody>
      </p:sp>
      <p:sp>
        <p:nvSpPr>
          <p:cNvPr id="6" name="함정 카드 1"/>
          <p:cNvSpPr/>
          <p:nvPr/>
        </p:nvSpPr>
        <p:spPr>
          <a:xfrm>
            <a:off x="548640" y="1874520"/>
            <a:ext cx="25678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7" name="아이콘 원"/>
          <p:cNvSpPr/>
          <p:nvPr/>
        </p:nvSpPr>
        <p:spPr>
          <a:xfrm>
            <a:off x="822960" y="2148840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아이콘 LuCalendarX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03" y="2312883"/>
            <a:ext cx="385145" cy="3851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73504" y="2258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함정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1752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마감일 없는 공문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날짜를 지어내는가?</a:t>
            </a:r>
            <a:endParaRPr lang="en-US" sz="1700" dirty="0"/>
          </a:p>
        </p:txBody>
      </p:sp>
      <p:sp>
        <p:nvSpPr>
          <p:cNvPr id="11" name="함정 카드 2"/>
          <p:cNvSpPr/>
          <p:nvPr/>
        </p:nvSpPr>
        <p:spPr>
          <a:xfrm>
            <a:off x="3390824" y="1874520"/>
            <a:ext cx="25678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12" name="아이콘 원"/>
          <p:cNvSpPr/>
          <p:nvPr/>
        </p:nvSpPr>
        <p:spPr>
          <a:xfrm>
            <a:off x="3665144" y="2148840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아이콘 LuCopy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187" y="2312883"/>
            <a:ext cx="385145" cy="3851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15688" y="2258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함정 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65144" y="301752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중복 공문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같은 공문을 두 번 세는가?</a:t>
            </a:r>
            <a:endParaRPr lang="en-US" sz="1700" dirty="0"/>
          </a:p>
        </p:txBody>
      </p:sp>
      <p:sp>
        <p:nvSpPr>
          <p:cNvPr id="16" name="함정 카드 3"/>
          <p:cNvSpPr/>
          <p:nvPr/>
        </p:nvSpPr>
        <p:spPr>
          <a:xfrm>
            <a:off x="6233008" y="1874520"/>
            <a:ext cx="25678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17" name="아이콘 원"/>
          <p:cNvSpPr/>
          <p:nvPr/>
        </p:nvSpPr>
        <p:spPr>
          <a:xfrm>
            <a:off x="6507328" y="2148840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아이콘 LuScanLi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371" y="2312883"/>
            <a:ext cx="385145" cy="3851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657871" y="2258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함정 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01752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스캔 이미지 PDF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글자를 못 읽고 넘어가는가?</a:t>
            </a:r>
            <a:endParaRPr lang="en-US" sz="1700" dirty="0"/>
          </a:p>
        </p:txBody>
      </p:sp>
      <p:sp>
        <p:nvSpPr>
          <p:cNvPr id="21" name="함정 카드 4"/>
          <p:cNvSpPr/>
          <p:nvPr/>
        </p:nvSpPr>
        <p:spPr>
          <a:xfrm>
            <a:off x="9075191" y="1874520"/>
            <a:ext cx="25678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22" name="아이콘 원"/>
          <p:cNvSpPr/>
          <p:nvPr/>
        </p:nvSpPr>
        <p:spPr>
          <a:xfrm>
            <a:off x="9349511" y="2148840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아이콘 LuPapercli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555" y="2312883"/>
            <a:ext cx="385145" cy="3851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500055" y="2258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함정 4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349511" y="301752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첨부만 있는 공문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본문이 없다고 빠뜨리는가?</a:t>
            </a:r>
            <a:endParaRPr lang="en-US" sz="1700" dirty="0"/>
          </a:p>
        </p:txBody>
      </p:sp>
      <p:sp>
        <p:nvSpPr>
          <p:cNvPr id="26" name="진행 단계 상자"/>
          <p:cNvSpPr/>
          <p:nvPr/>
        </p:nvSpPr>
        <p:spPr>
          <a:xfrm>
            <a:off x="548640" y="4160520"/>
            <a:ext cx="71780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297680"/>
            <a:ext cx="6720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함정 4개가 섞인 폴더로 Lv.4 파이프라인을 다시 실행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잡은 함정·놓친 함정을 표시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놓친 함정을 예외 규칙으로 스킬에 추가</a:t>
            </a:r>
            <a:endParaRPr lang="en-US" sz="1600" dirty="0"/>
          </a:p>
        </p:txBody>
      </p:sp>
      <p:sp>
        <p:nvSpPr>
          <p:cNvPr id="28" name="점수판"/>
          <p:cNvSpPr/>
          <p:nvPr/>
        </p:nvSpPr>
        <p:spPr>
          <a:xfrm>
            <a:off x="7955280" y="4160520"/>
            <a:ext cx="3685032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183880" y="4297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에이전트 점수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183880" y="47091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  ___ / 4</a:t>
            </a:r>
            <a:endParaRPr lang="en-US" sz="4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243" name="실습 폴더 라벨"/>
          <p:cNvSpPr/>
          <p:nvPr/>
        </p:nvSpPr>
        <p:spPr>
          <a:xfrm>
            <a:off x="3840480" y="1298448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실습 폴더  Lv5_검증 / 미션5.md</a:t>
            </a:r>
            <a:endParaRPr lang="ko-KR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교차 검증 — 만드는 AI와 검토하는 AI를 나눈다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Lv.5  검증</a:t>
            </a:r>
            <a:endParaRPr lang="en-US" sz="1300" dirty="0"/>
          </a:p>
        </p:txBody>
      </p:sp>
      <p:sp>
        <p:nvSpPr>
          <p:cNvPr id="4" name="검증 단계"/>
          <p:cNvSpPr/>
          <p:nvPr/>
        </p:nvSpPr>
        <p:spPr>
          <a:xfrm>
            <a:off x="548640" y="1417320"/>
            <a:ext cx="31089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아이콘 원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아이콘 LuBo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25" y="2053285"/>
            <a:ext cx="419710" cy="4197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459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대화 1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작성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스킬로 결과물 생성</a:t>
            </a:r>
            <a:endParaRPr lang="en-US" sz="1400" dirty="0"/>
          </a:p>
        </p:txBody>
      </p:sp>
      <p:pic>
        <p:nvPicPr>
          <p:cNvPr id="8" name="화살표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604" y="2084832"/>
            <a:ext cx="365760" cy="365760"/>
          </a:xfrm>
          <a:prstGeom prst="rect">
            <a:avLst/>
          </a:prstGeom>
        </p:spPr>
      </p:pic>
      <p:sp>
        <p:nvSpPr>
          <p:cNvPr id="9" name="검증 단계"/>
          <p:cNvSpPr/>
          <p:nvPr/>
        </p:nvSpPr>
        <p:spPr>
          <a:xfrm>
            <a:off x="4541368" y="1417320"/>
            <a:ext cx="31089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0" name="아이콘 원"/>
          <p:cNvSpPr/>
          <p:nvPr/>
        </p:nvSpPr>
        <p:spPr>
          <a:xfrm>
            <a:off x="4815688" y="1874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아이콘 LuSearc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453" y="2053285"/>
            <a:ext cx="419710" cy="41971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75808" y="16459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대화 2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검토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새 대화에서 검토 스킬 실행</a:t>
            </a:r>
            <a:endParaRPr lang="en-US" sz="1400" dirty="0"/>
          </a:p>
        </p:txBody>
      </p:sp>
      <p:pic>
        <p:nvPicPr>
          <p:cNvPr id="13" name="화살표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331" y="2084832"/>
            <a:ext cx="365760" cy="365760"/>
          </a:xfrm>
          <a:prstGeom prst="rect">
            <a:avLst/>
          </a:prstGeom>
        </p:spPr>
      </p:pic>
      <p:sp>
        <p:nvSpPr>
          <p:cNvPr id="14" name="검증 단계"/>
          <p:cNvSpPr/>
          <p:nvPr/>
        </p:nvSpPr>
        <p:spPr>
          <a:xfrm>
            <a:off x="8534095" y="1417320"/>
            <a:ext cx="31089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5" name="아이콘 원"/>
          <p:cNvSpPr/>
          <p:nvPr/>
        </p:nvSpPr>
        <p:spPr>
          <a:xfrm>
            <a:off x="8808415" y="18745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아이콘 LuUserChe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7180" y="2053285"/>
            <a:ext cx="419710" cy="41971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768535" y="16459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사람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최종 결정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발송·결재·제출</a:t>
            </a:r>
            <a:endParaRPr lang="en-US" sz="1400" dirty="0"/>
          </a:p>
        </p:txBody>
      </p:sp>
      <p:sp>
        <p:nvSpPr>
          <p:cNvPr id="18" name="체크리스트 패널"/>
          <p:cNvSpPr/>
          <p:nvPr/>
        </p:nvSpPr>
        <p:spPr>
          <a:xfrm>
            <a:off x="548640" y="3429000"/>
            <a:ext cx="1109167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rgbClr val="BFE0D8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86868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검토 스킬 체크리스트 </a:t>
            </a:r>
            <a:r>
              <a:rPr lang="en-US" sz="17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(checklist.md)</a:t>
            </a:r>
            <a:endParaRPr lang="en-US" sz="1700" dirty="0"/>
          </a:p>
        </p:txBody>
      </p:sp>
      <p:pic>
        <p:nvPicPr>
          <p:cNvPr id="20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70248"/>
            <a:ext cx="420624" cy="42062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46304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원본 대비 누락이 없다</a:t>
            </a:r>
            <a:endParaRPr lang="en-US" sz="1700" dirty="0"/>
          </a:p>
        </p:txBody>
      </p:sp>
      <p:pic>
        <p:nvPicPr>
          <p:cNvPr id="22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270248"/>
            <a:ext cx="420624" cy="42062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85800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날짜·숫자가 원본과 일치한다</a:t>
            </a:r>
            <a:endParaRPr lang="en-US" sz="1700" dirty="0"/>
          </a:p>
        </p:txBody>
      </p:sp>
      <p:pic>
        <p:nvPicPr>
          <p:cNvPr id="24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047488"/>
            <a:ext cx="420624" cy="42062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46304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원본에 없는 내용이 없다</a:t>
            </a:r>
            <a:endParaRPr lang="en-US" sz="1700" dirty="0"/>
          </a:p>
        </p:txBody>
      </p:sp>
      <p:pic>
        <p:nvPicPr>
          <p:cNvPr id="26" name="체크 아이콘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5047488"/>
            <a:ext cx="420624" cy="42062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85800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개인정보가 드러나지 않는다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예약 실행 — 한 번 만들면 알아서 일한다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Lv.6  자동화·공유</a:t>
            </a:r>
            <a:endParaRPr lang="en-US" sz="1300" dirty="0"/>
          </a:p>
        </p:txBody>
      </p:sp>
      <p:sp>
        <p:nvSpPr>
          <p:cNvPr id="4" name="예시 상자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pic>
        <p:nvPicPr>
          <p:cNvPr id="5" name="예약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매주 월요일 08:00  </a:t>
            </a:r>
            <a:r>
              <a:rPr lang="en-US" sz="2000" b="1" dirty="0">
                <a:solidFill>
                  <a:schemeClr val="bg1"/>
                </a:solidFill>
              </a:rPr>
              <a:t>공문 폴더 정리 → 이번 주 할 일 요약</a:t>
            </a:r>
            <a:endParaRPr lang="en-US" sz="2000" dirty="0"/>
          </a:p>
        </p:txBody>
      </p:sp>
      <p:sp>
        <p:nvSpPr>
          <p:cNvPr id="7" name="Codex 앱"/>
          <p:cNvSpPr/>
          <p:nvPr/>
        </p:nvSpPr>
        <p:spPr>
          <a:xfrm>
            <a:off x="548640" y="2514600"/>
            <a:ext cx="5413248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방법 1 · 채팅에서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9184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채팅창에 /schedule 입력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작업 설명 붙여 넣기 (예약실행_프롬프트.md)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프롬프트에 스킬 이름(gongmun-helper) 넣기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17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결과는 Scheduled 함에 도착</a:t>
            </a:r>
            <a:endParaRPr lang="en-US" sz="1400" dirty="0"/>
          </a:p>
        </p:txBody>
      </p:sp>
      <p:sp>
        <p:nvSpPr>
          <p:cNvPr id="11" name="Claude Desktop (Cowork)"/>
          <p:cNvSpPr/>
          <p:nvPr/>
        </p:nvSpPr>
        <p:spPr>
          <a:xfrm>
            <a:off x="6236208" y="2514600"/>
            <a:ext cx="5413248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56248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방법 2 · Scheduled 메뉴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56248" y="329184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Scheduled → New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작업 내용과 반복 주기(매주 월 08:00) 설정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작업 폴더 선택 (실습: Lv5_검증)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56248" y="4617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결과는 Scheduled 함에 도착</a:t>
            </a:r>
            <a:endParaRPr lang="en-US" sz="1400" dirty="0"/>
          </a:p>
        </p:txBody>
      </p:sp>
      <p:sp>
        <p:nvSpPr>
          <p:cNvPr id="15" name="아이콘 원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아이콘 LuTriangleAler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5566867"/>
            <a:ext cx="296266" cy="29626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5440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 PC 폴더를 쓰는 예약 작업은 PC와 앱이 켜져 있어야 실행됩니다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스킬 패키지 완성 &amp; 공유</a:t>
            </a:r>
            <a:endParaRPr lang="en-US" sz="3000" dirty="0"/>
          </a:p>
        </p:txBody>
      </p:sp>
      <p:sp>
        <p:nvSpPr>
          <p:cNvPr id="3" name="레벨 배지"/>
          <p:cNvSpPr/>
          <p:nvPr/>
        </p:nvSpPr>
        <p:spPr>
          <a:xfrm>
            <a:off x="9720072" y="493776"/>
            <a:ext cx="192024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Lv.6  자동화·공유</a:t>
            </a:r>
            <a:endParaRPr lang="en-US" sz="1300" dirty="0"/>
          </a:p>
        </p:txBody>
      </p:sp>
      <p:sp>
        <p:nvSpPr>
          <p:cNvPr id="4" name="패키지 패널"/>
          <p:cNvSpPr/>
          <p:nvPr/>
        </p:nvSpPr>
        <p:spPr>
          <a:xfrm>
            <a:off x="548640" y="1371600"/>
            <a:ext cx="5760720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gongmun-helper/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SKILL.md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업무 인수인계서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checklist.md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검토 기준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assets/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학교 양식(hwpx)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examples/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입력·결과 예시</a:t>
            </a:r>
            <a:endParaRPr lang="en-US" sz="1600" dirty="0"/>
          </a:p>
        </p:txBody>
      </p:sp>
      <p:sp>
        <p:nvSpPr>
          <p:cNvPr id="6" name="공유 단계"/>
          <p:cNvSpPr/>
          <p:nvPr/>
        </p:nvSpPr>
        <p:spPr>
          <a:xfrm>
            <a:off x="6583680" y="1371600"/>
            <a:ext cx="505663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pic>
        <p:nvPicPr>
          <p:cNvPr id="7" name="공유 아이콘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591056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52360" y="1371600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zip으로 묶기  </a:t>
            </a:r>
            <a:r>
              <a:rPr lang="en-US" sz="1400" dirty="0">
                <a:solidFill>
                  <a:schemeClr val="accent5"/>
                </a:solidFill>
              </a:rPr>
              <a:t>스킬 폴더째 압축</a:t>
            </a:r>
            <a:endParaRPr lang="en-US" sz="1600" dirty="0"/>
          </a:p>
        </p:txBody>
      </p:sp>
      <p:sp>
        <p:nvSpPr>
          <p:cNvPr id="9" name="공유 단계"/>
          <p:cNvSpPr/>
          <p:nvPr/>
        </p:nvSpPr>
        <p:spPr>
          <a:xfrm>
            <a:off x="6583680" y="2441448"/>
            <a:ext cx="505663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pic>
        <p:nvPicPr>
          <p:cNvPr id="10" name="공유 아이콘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66090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441448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Claude Desktop  </a:t>
            </a:r>
            <a:r>
              <a:rPr lang="en-US" sz="1400" dirty="0">
                <a:solidFill>
                  <a:schemeClr val="accent5"/>
                </a:solidFill>
              </a:rPr>
              <a:t>Customize → Skills → 업로드</a:t>
            </a:r>
            <a:endParaRPr lang="en-US" sz="1600" dirty="0"/>
          </a:p>
        </p:txBody>
      </p:sp>
      <p:sp>
        <p:nvSpPr>
          <p:cNvPr id="12" name="공유 단계"/>
          <p:cNvSpPr/>
          <p:nvPr/>
        </p:nvSpPr>
        <p:spPr>
          <a:xfrm>
            <a:off x="6583680" y="3511296"/>
            <a:ext cx="5056632" cy="886968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/>
        </p:spPr>
      </p:sp>
      <p:pic>
        <p:nvPicPr>
          <p:cNvPr id="13" name="공유 아이콘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7307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3511296"/>
            <a:ext cx="4069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저장소 예시  </a:t>
            </a:r>
            <a:r>
              <a:rPr lang="en-US" sz="1400" dirty="0">
                <a:solidFill>
                  <a:schemeClr val="accent5"/>
                </a:solidFill>
              </a:rPr>
              <a:t>Lv6_자동화공유 폴더</a:t>
            </a:r>
            <a:endParaRPr lang="en-US" sz="1600" dirty="0"/>
          </a:p>
        </p:txBody>
      </p:sp>
      <p:sp>
        <p:nvSpPr>
          <p:cNvPr id="15" name="발표 상자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아이콘 원"/>
          <p:cNvSpPr/>
          <p:nvPr/>
        </p:nvSpPr>
        <p:spPr>
          <a:xfrm>
            <a:off x="822960" y="4983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아이콘 LuMessagesSquar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10" y="5151730"/>
            <a:ext cx="395021" cy="3950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28800" y="48006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1분 발표 (2~3명)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어떤 업무를  →  어떤 실패를 겪고  →  무슨 규칙을 추가했나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꼭 지킬 안전 수칙 5가지</a:t>
            </a:r>
            <a:endParaRPr lang="en-US" sz="3000" dirty="0"/>
          </a:p>
        </p:txBody>
      </p:sp>
      <p:sp>
        <p:nvSpPr>
          <p:cNvPr id="3" name="수칙 1"/>
          <p:cNvSpPr/>
          <p:nvPr/>
        </p:nvSpPr>
        <p:spPr>
          <a:xfrm>
            <a:off x="548640" y="1371600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4" name="아이콘 원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아이콘 LuLo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13" y="1611721"/>
            <a:ext cx="306141" cy="3061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7160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실제 학생·교직원 개인정보는 넣지 않는다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37160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가상 데이터로 실습, 실제 업무는 가림 처리</a:t>
            </a:r>
            <a:endParaRPr lang="en-US" sz="1500" dirty="0"/>
          </a:p>
        </p:txBody>
      </p:sp>
      <p:sp>
        <p:nvSpPr>
          <p:cNvPr id="8" name="수칙 2"/>
          <p:cNvSpPr/>
          <p:nvPr/>
        </p:nvSpPr>
        <p:spPr>
          <a:xfrm>
            <a:off x="548640" y="2313432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9" name="아이콘 원"/>
          <p:cNvSpPr/>
          <p:nvPr/>
        </p:nvSpPr>
        <p:spPr>
          <a:xfrm>
            <a:off x="731520" y="242316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아이콘 LuCopy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13" y="2553553"/>
            <a:ext cx="306141" cy="30614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313432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원본이 아닌 복사본으로 작업한다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231343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원본 폴더는 읽기만</a:t>
            </a:r>
            <a:endParaRPr lang="en-US" sz="1500" dirty="0"/>
          </a:p>
        </p:txBody>
      </p:sp>
      <p:sp>
        <p:nvSpPr>
          <p:cNvPr id="13" name="수칙 3"/>
          <p:cNvSpPr/>
          <p:nvPr/>
        </p:nvSpPr>
        <p:spPr>
          <a:xfrm>
            <a:off x="548640" y="3255264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4" name="아이콘 원"/>
          <p:cNvSpPr/>
          <p:nvPr/>
        </p:nvSpPr>
        <p:spPr>
          <a:xfrm>
            <a:off x="731520" y="336499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아이콘 LuUserChec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13" y="3495385"/>
            <a:ext cx="306141" cy="30614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55264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발송·결재·제출은 반드시 사람이 한다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086600" y="325526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에이전트는 초안까지</a:t>
            </a:r>
            <a:endParaRPr lang="en-US" sz="1500" dirty="0"/>
          </a:p>
        </p:txBody>
      </p:sp>
      <p:sp>
        <p:nvSpPr>
          <p:cNvPr id="18" name="수칙 4"/>
          <p:cNvSpPr/>
          <p:nvPr/>
        </p:nvSpPr>
        <p:spPr>
          <a:xfrm>
            <a:off x="548640" y="4197096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19" name="아이콘 원"/>
          <p:cNvSpPr/>
          <p:nvPr/>
        </p:nvSpPr>
        <p:spPr>
          <a:xfrm>
            <a:off x="731520" y="430682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아이콘 LuSearch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13" y="4437217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197096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결과는 원본과 대조한다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086600" y="419709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날짜·숫자·이름은 특히 꼼꼼히</a:t>
            </a:r>
            <a:endParaRPr lang="en-US" sz="1500" dirty="0"/>
          </a:p>
        </p:txBody>
      </p:sp>
      <p:sp>
        <p:nvSpPr>
          <p:cNvPr id="23" name="수칙 5"/>
          <p:cNvSpPr/>
          <p:nvPr/>
        </p:nvSpPr>
        <p:spPr>
          <a:xfrm>
            <a:off x="548640" y="5138928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/>
        </p:spPr>
      </p:sp>
      <p:sp>
        <p:nvSpPr>
          <p:cNvPr id="24" name="아이콘 원"/>
          <p:cNvSpPr/>
          <p:nvPr/>
        </p:nvSpPr>
        <p:spPr>
          <a:xfrm>
            <a:off x="731520" y="5248656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아이콘 LuShieldCheck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13" y="5379049"/>
            <a:ext cx="306141" cy="30614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51389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기관 보안 지침을 먼저 따른다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086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업무망·인터넷망 구분, 허용된 도구만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내일 학교에서 해 볼 한 가지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803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6"/>
                </a:solidFill>
              </a:rPr>
              <a:t>매번 똑같이 하는 업무 1개를 골라 스킬로 만들어 보세요</a:t>
            </a:r>
            <a:endParaRPr lang="en-US" sz="2000" dirty="0"/>
          </a:p>
        </p:txBody>
      </p:sp>
      <p:sp>
        <p:nvSpPr>
          <p:cNvPr id="4" name="다음 단계 칩"/>
          <p:cNvSpPr/>
          <p:nvPr/>
        </p:nvSpPr>
        <p:spPr>
          <a:xfrm>
            <a:off x="731520" y="3977640"/>
            <a:ext cx="2468880" cy="68580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반복 업무 1개</a:t>
            </a:r>
            <a:endParaRPr lang="en-US" sz="1800" dirty="0"/>
          </a:p>
        </p:txBody>
      </p:sp>
      <p:pic>
        <p:nvPicPr>
          <p:cNvPr id="5" name="화살표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4133088"/>
            <a:ext cx="365760" cy="365760"/>
          </a:xfrm>
          <a:prstGeom prst="rect">
            <a:avLst/>
          </a:prstGeom>
        </p:spPr>
      </p:pic>
      <p:sp>
        <p:nvSpPr>
          <p:cNvPr id="6" name="다음 단계 칩"/>
          <p:cNvSpPr/>
          <p:nvPr/>
        </p:nvSpPr>
        <p:spPr>
          <a:xfrm>
            <a:off x="3703320" y="3977640"/>
            <a:ext cx="2468880" cy="68580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설계 카드 5칸</a:t>
            </a:r>
            <a:endParaRPr lang="en-US" sz="1800" dirty="0"/>
          </a:p>
        </p:txBody>
      </p:sp>
      <p:pic>
        <p:nvPicPr>
          <p:cNvPr id="7" name="화살표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4133088"/>
            <a:ext cx="365760" cy="365760"/>
          </a:xfrm>
          <a:prstGeom prst="rect">
            <a:avLst/>
          </a:prstGeom>
        </p:spPr>
      </p:pic>
      <p:sp>
        <p:nvSpPr>
          <p:cNvPr id="8" name="다음 단계 칩"/>
          <p:cNvSpPr/>
          <p:nvPr/>
        </p:nvSpPr>
        <p:spPr>
          <a:xfrm>
            <a:off x="6675120" y="3977640"/>
            <a:ext cx="2468880" cy="68580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스킬 1개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질문과 나눔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바이브 코딩은 y = ax + b 다</a:t>
            </a:r>
            <a:endParaRPr lang="en-US" sz="3000" dirty="0"/>
          </a:p>
        </p:txBody>
      </p:sp>
      <p:sp>
        <p:nvSpPr>
          <p:cNvPr id="201" name="공식 패널"/>
          <p:cNvSpPr/>
          <p:nvPr/>
        </p:nvSpPr>
        <p:spPr>
          <a:xfrm>
            <a:off x="548640" y="1325880"/>
            <a:ext cx="11091672" cy="118872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6000" b="1" dirty="0">
                <a:solidFill>
                  <a:schemeClr val="accent2"/>
                </a:solidFill>
              </a:rPr>
              <a:t>y</a:t>
            </a:r>
            <a:r>
              <a:rPr lang="ko-KR" altLang="en-US" sz="6000" b="1" dirty="0">
                <a:solidFill>
                  <a:schemeClr val="bg1"/>
                </a:solidFill>
              </a:rPr>
              <a:t>  =  </a:t>
            </a:r>
            <a:r>
              <a:rPr lang="ko-KR" altLang="en-US" sz="6000" b="1" dirty="0">
                <a:solidFill>
                  <a:schemeClr val="accent6"/>
                </a:solidFill>
              </a:rPr>
              <a:t>a</a:t>
            </a:r>
            <a:r>
              <a:rPr lang="ko-KR" altLang="en-US" sz="6000" b="1" dirty="0">
                <a:solidFill>
                  <a:schemeClr val="bg1"/>
                </a:solidFill>
              </a:rPr>
              <a:t>x</a:t>
            </a:r>
            <a:r>
              <a:rPr lang="ko-KR" altLang="en-US" sz="6000" b="1" dirty="0">
                <a:solidFill>
                  <a:schemeClr val="bg1"/>
                </a:solidFill>
              </a:rPr>
              <a:t>  +  </a:t>
            </a:r>
            <a:r>
              <a:rPr lang="ko-KR" altLang="en-US" sz="6000" b="1" dirty="0">
                <a:solidFill>
                  <a:schemeClr val="accent6"/>
                </a:solidFill>
              </a:rPr>
              <a:t>b</a:t>
            </a:r>
            <a:endParaRPr lang="ko-KR" sz="6000" dirty="0"/>
          </a:p>
        </p:txBody>
      </p:sp>
      <p:sp>
        <p:nvSpPr>
          <p:cNvPr id="202" name="y 카드"/>
          <p:cNvSpPr/>
          <p:nvPr/>
        </p:nvSpPr>
        <p:spPr>
          <a:xfrm>
            <a:off x="548640" y="2788920"/>
            <a:ext cx="3529584" cy="2606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3" name="y 원"/>
          <p:cNvSpPr/>
          <p:nvPr/>
        </p:nvSpPr>
        <p:spPr>
          <a:xfrm>
            <a:off x="777240" y="3017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y</a:t>
            </a:r>
            <a:endParaRPr lang="ko-KR" sz="2800" dirty="0"/>
          </a:p>
        </p:txBody>
      </p:sp>
      <p:sp>
        <p:nvSpPr>
          <p:cNvPr id="204" name="y 제목"/>
          <p:cNvSpPr txBox="1"/>
          <p:nvPr/>
        </p:nvSpPr>
        <p:spPr>
          <a:xfrm>
            <a:off x="1645920" y="30175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원하는 결과물</a:t>
            </a:r>
            <a:endParaRPr lang="ko-KR" sz="1900" dirty="0"/>
          </a:p>
        </p:txBody>
      </p:sp>
      <p:sp>
        <p:nvSpPr>
          <p:cNvPr id="205" name="y 설명"/>
          <p:cNvSpPr txBox="1"/>
          <p:nvPr/>
        </p:nvSpPr>
        <p:spPr>
          <a:xfrm>
            <a:off x="777240" y="3931920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docx · hwpx · html · pdf …</a:t>
            </a:r>
            <a:endParaRPr lang="ko-KR" sz="1500" dirty="0"/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내가 원하는 출력의 형태와 결과물</a:t>
            </a:r>
            <a:endParaRPr lang="ko-KR" sz="1500" dirty="0"/>
          </a:p>
          <a:p>
            <a:pPr marL="0" indent="0" algn="l">
              <a:spcBef>
                <a:spcPts val="9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예) A4 2쪽 학교 양식 가정통신문</a:t>
            </a:r>
            <a:endParaRPr lang="ko-KR" sz="1400" dirty="0"/>
          </a:p>
        </p:txBody>
      </p:sp>
      <p:sp>
        <p:nvSpPr>
          <p:cNvPr id="206" name="x 카드"/>
          <p:cNvSpPr/>
          <p:nvPr/>
        </p:nvSpPr>
        <p:spPr>
          <a:xfrm>
            <a:off x="4329684" y="2788920"/>
            <a:ext cx="3529584" cy="2606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7" name="x 원"/>
          <p:cNvSpPr/>
          <p:nvPr/>
        </p:nvSpPr>
        <p:spPr>
          <a:xfrm>
            <a:off x="4558284" y="30175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chemeClr val="bg1"/>
                </a:solidFill>
              </a:rPr>
              <a:t>x</a:t>
            </a:r>
            <a:endParaRPr lang="ko-KR" sz="2800" dirty="0"/>
          </a:p>
        </p:txBody>
      </p:sp>
      <p:sp>
        <p:nvSpPr>
          <p:cNvPr id="208" name="x 제목"/>
          <p:cNvSpPr txBox="1"/>
          <p:nvPr/>
        </p:nvSpPr>
        <p:spPr>
          <a:xfrm>
            <a:off x="5426964" y="30175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입력값</a:t>
            </a:r>
            <a:endParaRPr lang="ko-KR" sz="1900" dirty="0"/>
          </a:p>
        </p:txBody>
      </p:sp>
      <p:sp>
        <p:nvSpPr>
          <p:cNvPr id="209" name="x 설명"/>
          <p:cNvSpPr txBox="1"/>
          <p:nvPr/>
        </p:nvSpPr>
        <p:spPr>
          <a:xfrm>
            <a:off x="4558284" y="3931920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hwpx · docx · pdf · jpg …</a:t>
            </a:r>
            <a:endParaRPr lang="ko-KR" sz="1500" dirty="0"/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내가 원하는 조건과 형태</a:t>
            </a:r>
            <a:endParaRPr lang="ko-KR" sz="1500" dirty="0"/>
          </a:p>
          <a:p>
            <a:pPr marL="0" indent="0" algn="l">
              <a:spcBef>
                <a:spcPts val="9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예) 운영계획서 + 학부모 대상</a:t>
            </a:r>
            <a:endParaRPr lang="ko-KR" sz="1400" dirty="0"/>
          </a:p>
        </p:txBody>
      </p:sp>
      <p:sp>
        <p:nvSpPr>
          <p:cNvPr id="210" name="a·b 카드"/>
          <p:cNvSpPr/>
          <p:nvPr/>
        </p:nvSpPr>
        <p:spPr>
          <a:xfrm>
            <a:off x="8110728" y="2788920"/>
            <a:ext cx="3529584" cy="2606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1" name="a·b 원"/>
          <p:cNvSpPr/>
          <p:nvPr/>
        </p:nvSpPr>
        <p:spPr>
          <a:xfrm>
            <a:off x="8339328" y="30175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400" b="1" dirty="0">
                <a:solidFill>
                  <a:schemeClr val="bg1"/>
                </a:solidFill>
              </a:rPr>
              <a:t>a·b</a:t>
            </a:r>
            <a:endParaRPr lang="ko-KR" sz="2400" dirty="0"/>
          </a:p>
        </p:txBody>
      </p:sp>
      <p:sp>
        <p:nvSpPr>
          <p:cNvPr id="212" name="a·b 제목"/>
          <p:cNvSpPr txBox="1"/>
          <p:nvPr/>
        </p:nvSpPr>
        <p:spPr>
          <a:xfrm>
            <a:off x="9208008" y="30175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스킬</a:t>
            </a:r>
            <a:endParaRPr lang="ko-KR" sz="1900" dirty="0"/>
          </a:p>
        </p:txBody>
      </p:sp>
      <p:sp>
        <p:nvSpPr>
          <p:cNvPr id="213" name="a·b 설명"/>
          <p:cNvSpPr txBox="1"/>
          <p:nvPr/>
        </p:nvSpPr>
        <p:spPr>
          <a:xfrm>
            <a:off x="8339328" y="3931920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x를 y로 만드는 과정에서</a:t>
            </a:r>
            <a:endParaRPr lang="ko-KR" sz="1500" dirty="0"/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활용할 방법과 경향</a:t>
            </a:r>
            <a:endParaRPr lang="ko-KR" sz="1500" dirty="0"/>
          </a:p>
          <a:p>
            <a:pPr marL="0" indent="0" algn="l">
              <a:spcBef>
                <a:spcPts val="9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예) SKILL.md + 양식 + 도구</a:t>
            </a:r>
            <a:endParaRPr lang="ko-KR" sz="1400" dirty="0"/>
          </a:p>
        </p:txBody>
      </p:sp>
      <p:sp>
        <p:nvSpPr>
          <p:cNvPr id="214" name="결론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바이브 코딩이란 </a:t>
            </a:r>
            <a:r>
              <a:rPr lang="ko-KR" altLang="en-US" sz="2000" b="1" dirty="0">
                <a:solidFill>
                  <a:schemeClr val="accent3"/>
                </a:solidFill>
              </a:rPr>
              <a:t>y, x, a, b</a:t>
            </a:r>
            <a:r>
              <a:rPr lang="ko-KR" altLang="en-US" sz="2000" b="1" dirty="0">
                <a:solidFill>
                  <a:schemeClr val="tx1"/>
                </a:solidFill>
              </a:rPr>
              <a:t>를 내가 필요에 따라 정하고 처리하는 과정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실습에 대입하면</a:t>
            </a:r>
            <a:endParaRPr lang="en-US" sz="3000" dirty="0"/>
          </a:p>
        </p:txBody>
      </p:sp>
      <p:sp>
        <p:nvSpPr>
          <p:cNvPr id="215" name="x 상자"/>
          <p:cNvSpPr/>
          <p:nvPr/>
        </p:nvSpPr>
        <p:spPr>
          <a:xfrm>
            <a:off x="548640" y="1417320"/>
            <a:ext cx="3383280" cy="27432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6" name="x 내용"/>
          <p:cNvSpPr txBox="1"/>
          <p:nvPr/>
        </p:nvSpPr>
        <p:spPr>
          <a:xfrm>
            <a:off x="822960" y="16916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accent3"/>
                </a:solidFill>
              </a:rPr>
              <a:t>x</a:t>
            </a:r>
            <a:r>
              <a:rPr lang="ko-KR" altLang="en-US" sz="1700" b="1" dirty="0">
                <a:solidFill>
                  <a:schemeClr val="tx1"/>
                </a:solidFill>
              </a:rPr>
              <a:t>  입력</a:t>
            </a:r>
            <a:endParaRPr lang="ko-KR" sz="3200" dirty="0"/>
          </a:p>
          <a:p>
            <a:pPr marL="0" indent="0" algn="l">
              <a:spcBef>
                <a:spcPts val="900"/>
              </a:spcBef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넷마블 게임 박물관</a:t>
            </a:r>
            <a:endParaRPr lang="ko-KR" sz="1900" dirty="0"/>
          </a:p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운영계획서.hwpx</a:t>
            </a:r>
            <a:endParaRPr lang="ko-KR" sz="1900" dirty="0"/>
          </a:p>
          <a:p>
            <a:pPr marL="0" indent="0" algn="l">
              <a:spcBef>
                <a:spcPts val="7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+ 조건: 학부모 대상 · 높임말</a:t>
            </a:r>
            <a:endParaRPr lang="ko-KR" sz="1400" dirty="0"/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+ 개인정보는 넣지 않기</a:t>
            </a:r>
            <a:endParaRPr lang="ko-KR" sz="1400" dirty="0"/>
          </a:p>
        </p:txBody>
      </p:sp>
      <p:sp>
        <p:nvSpPr>
          <p:cNvPr id="217" name="화살표"/>
          <p:cNvSpPr/>
          <p:nvPr/>
        </p:nvSpPr>
        <p:spPr>
          <a:xfrm>
            <a:off x="3938778" y="2560320"/>
            <a:ext cx="457200" cy="45720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18" name="a·b 상자"/>
          <p:cNvSpPr/>
          <p:nvPr/>
        </p:nvSpPr>
        <p:spPr>
          <a:xfrm>
            <a:off x="4402836" y="1417320"/>
            <a:ext cx="3383280" cy="27432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19" name="a·b 내용"/>
          <p:cNvSpPr txBox="1"/>
          <p:nvPr/>
        </p:nvSpPr>
        <p:spPr>
          <a:xfrm>
            <a:off x="4677156" y="16916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accent2"/>
                </a:solidFill>
              </a:rPr>
              <a:t>a·b</a:t>
            </a:r>
            <a:r>
              <a:rPr lang="ko-KR" altLang="en-US" sz="1700" b="1" dirty="0">
                <a:solidFill>
                  <a:schemeClr val="bg1"/>
                </a:solidFill>
              </a:rPr>
              <a:t>  스킬</a:t>
            </a:r>
            <a:endParaRPr lang="ko-KR" sz="3200" dirty="0"/>
          </a:p>
          <a:p>
            <a:pPr marL="0" indent="0" algn="l">
              <a:spcBef>
                <a:spcPts val="900"/>
              </a:spcBef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newsletter-writer</a:t>
            </a:r>
            <a:endParaRPr lang="ko-KR" sz="1900" dirty="0"/>
          </a:p>
          <a:p>
            <a:pPr marL="0" indent="0" algn="l">
              <a:spcBef>
                <a:spcPts val="700"/>
              </a:spcBef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SKILL.md  절차 · 규칙(경향)</a:t>
            </a:r>
            <a:endParaRPr lang="ko-KR" sz="1400" dirty="0"/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assets/  학교 양식.hwpx</a:t>
            </a:r>
            <a:endParaRPr lang="ko-KR" sz="1400" dirty="0"/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scripts/  빈칸 채우기 도구</a:t>
            </a:r>
            <a:endParaRPr lang="ko-KR" sz="1400" dirty="0"/>
          </a:p>
        </p:txBody>
      </p:sp>
      <p:sp>
        <p:nvSpPr>
          <p:cNvPr id="220" name="화살표"/>
          <p:cNvSpPr/>
          <p:nvPr/>
        </p:nvSpPr>
        <p:spPr>
          <a:xfrm>
            <a:off x="7792974" y="2560320"/>
            <a:ext cx="457200" cy="45720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21" name="y 상자"/>
          <p:cNvSpPr/>
          <p:nvPr/>
        </p:nvSpPr>
        <p:spPr>
          <a:xfrm>
            <a:off x="8257032" y="1417320"/>
            <a:ext cx="3383280" cy="27432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2" name="y 내용"/>
          <p:cNvSpPr txBox="1"/>
          <p:nvPr/>
        </p:nvSpPr>
        <p:spPr>
          <a:xfrm>
            <a:off x="8531352" y="16916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chemeClr val="accent4"/>
                </a:solidFill>
              </a:rPr>
              <a:t>y</a:t>
            </a:r>
            <a:r>
              <a:rPr lang="ko-KR" altLang="en-US" sz="1700" b="1" dirty="0">
                <a:solidFill>
                  <a:schemeClr val="tx1"/>
                </a:solidFill>
              </a:rPr>
              <a:t>  결과</a:t>
            </a:r>
            <a:endParaRPr lang="ko-KR" sz="3200" dirty="0"/>
          </a:p>
          <a:p>
            <a:pPr marL="0" indent="0" algn="l">
              <a:spcBef>
                <a:spcPts val="900"/>
              </a:spcBef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참가 신청서.hwpx</a:t>
            </a:r>
            <a:endParaRPr lang="ko-KR" sz="1900" dirty="0"/>
          </a:p>
          <a:p>
            <a:pPr marL="0" indent="0" algn="l">
              <a:spcBef>
                <a:spcPts val="7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A4 2쪽 · 일정표 · 안전 수칙</a:t>
            </a:r>
            <a:endParaRPr lang="ko-KR" sz="1400" dirty="0"/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준비물 · 참가 희망원(절취선)</a:t>
            </a:r>
            <a:endParaRPr lang="ko-KR" sz="1400" dirty="0"/>
          </a:p>
        </p:txBody>
      </p:sp>
      <p:sp>
        <p:nvSpPr>
          <p:cNvPr id="223" name="Lv.1 단계"/>
          <p:cNvSpPr/>
          <p:nvPr/>
        </p:nvSpPr>
        <p:spPr>
          <a:xfrm>
            <a:off x="548640" y="4526280"/>
            <a:ext cx="2108606" cy="77724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E0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Lv.1</a:t>
            </a:r>
            <a:endParaRPr lang="ko-KR" sz="1300" dirty="0"/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x만 주고 시키기</a:t>
            </a:r>
            <a:endParaRPr lang="ko-KR" sz="1500" dirty="0"/>
          </a:p>
        </p:txBody>
      </p:sp>
      <p:sp>
        <p:nvSpPr>
          <p:cNvPr id="224" name="Lv.2 단계"/>
          <p:cNvSpPr/>
          <p:nvPr/>
        </p:nvSpPr>
        <p:spPr>
          <a:xfrm>
            <a:off x="2794406" y="4526280"/>
            <a:ext cx="2108606" cy="77724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E0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Lv.2</a:t>
            </a:r>
            <a:endParaRPr lang="ko-KR" sz="1300" dirty="0"/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a·b(스킬) 만들기</a:t>
            </a:r>
            <a:endParaRPr lang="ko-KR" sz="1500" dirty="0"/>
          </a:p>
        </p:txBody>
      </p:sp>
      <p:sp>
        <p:nvSpPr>
          <p:cNvPr id="225" name="Lv.3 단계"/>
          <p:cNvSpPr/>
          <p:nvPr/>
        </p:nvSpPr>
        <p:spPr>
          <a:xfrm>
            <a:off x="5040172" y="4526280"/>
            <a:ext cx="2108606" cy="77724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E0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Lv.3</a:t>
            </a:r>
            <a:endParaRPr lang="ko-KR" sz="1300" dirty="0"/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y 양식 지키기</a:t>
            </a:r>
            <a:endParaRPr lang="ko-KR" sz="1500" dirty="0"/>
          </a:p>
        </p:txBody>
      </p:sp>
      <p:sp>
        <p:nvSpPr>
          <p:cNvPr id="226" name="Lv.4~5 단계"/>
          <p:cNvSpPr/>
          <p:nvPr/>
        </p:nvSpPr>
        <p:spPr>
          <a:xfrm>
            <a:off x="7285938" y="4526280"/>
            <a:ext cx="2108606" cy="77724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E0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Lv.4~5</a:t>
            </a:r>
            <a:endParaRPr lang="ko-KR" sz="1300" dirty="0"/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a·b 잇고 검증</a:t>
            </a:r>
            <a:endParaRPr lang="ko-KR" sz="1500" dirty="0"/>
          </a:p>
        </p:txBody>
      </p:sp>
      <p:sp>
        <p:nvSpPr>
          <p:cNvPr id="227" name="Lv.6 단계"/>
          <p:cNvSpPr/>
          <p:nvPr/>
        </p:nvSpPr>
        <p:spPr>
          <a:xfrm>
            <a:off x="9531704" y="4526280"/>
            <a:ext cx="2108606" cy="77724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E0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Lv.6</a:t>
            </a:r>
            <a:endParaRPr lang="ko-KR" sz="1300" dirty="0"/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자동으로 반복</a:t>
            </a:r>
            <a:endParaRPr lang="ko-KR" sz="1500" dirty="0"/>
          </a:p>
        </p:txBody>
      </p:sp>
      <p:sp>
        <p:nvSpPr>
          <p:cNvPr id="228" name="결론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x가 바뀌어도 a·b가 같으면 </a:t>
            </a:r>
            <a:r>
              <a:rPr lang="ko-KR" altLang="en-US" sz="1800" b="1" dirty="0">
                <a:solidFill>
                  <a:schemeClr val="accent3"/>
                </a:solidFill>
              </a:rPr>
              <a:t>같은 품질의 y</a:t>
            </a:r>
            <a:r>
              <a:rPr lang="ko-KR" altLang="en-US" sz="1800" b="1" dirty="0">
                <a:solidFill>
                  <a:schemeClr val="tx1"/>
                </a:solidFill>
              </a:rPr>
              <a:t> — 오늘은 a·b를 키우는 시간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실습 자료 받기</a:t>
            </a:r>
            <a:endParaRPr lang="en-US" sz="3000" dirty="0"/>
          </a:p>
        </p:txBody>
      </p:sp>
      <p:sp>
        <p:nvSpPr>
          <p:cNvPr id="229" name="단계 번호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1</a:t>
            </a:r>
            <a:endParaRPr lang="ko-KR" sz="1800" dirty="0"/>
          </a:p>
        </p:txBody>
      </p:sp>
      <p:sp>
        <p:nvSpPr>
          <p:cNvPr id="230" name="단계 설명"/>
          <p:cNvSpPr txBox="1"/>
          <p:nvPr/>
        </p:nvSpPr>
        <p:spPr>
          <a:xfrm>
            <a:off x="1325880" y="1371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저장소 열기</a:t>
            </a:r>
            <a:endParaRPr lang="ko-KR" sz="19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github.com/CarlosQuperman/2026AIDIGITAL</a:t>
            </a:r>
            <a:endParaRPr lang="ko-KR" sz="1400" dirty="0"/>
          </a:p>
        </p:txBody>
      </p:sp>
      <p:sp>
        <p:nvSpPr>
          <p:cNvPr id="231" name="단계 번호"/>
          <p:cNvSpPr/>
          <p:nvPr/>
        </p:nvSpPr>
        <p:spPr>
          <a:xfrm>
            <a:off x="548640" y="249631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2</a:t>
            </a:r>
            <a:endParaRPr lang="ko-KR" sz="1800" dirty="0"/>
          </a:p>
        </p:txBody>
      </p:sp>
      <p:sp>
        <p:nvSpPr>
          <p:cNvPr id="232" name="단계 설명"/>
          <p:cNvSpPr txBox="1"/>
          <p:nvPr/>
        </p:nvSpPr>
        <p:spPr>
          <a:xfrm>
            <a:off x="1325880" y="245059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Code → Download ZIP</a:t>
            </a:r>
            <a:endParaRPr lang="ko-KR" sz="19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바탕화면에 압축 풀기 (폴더명: 2026AIDIGITAL-main)</a:t>
            </a:r>
            <a:endParaRPr lang="ko-KR" sz="1400" dirty="0"/>
          </a:p>
        </p:txBody>
      </p:sp>
      <p:sp>
        <p:nvSpPr>
          <p:cNvPr id="233" name="단계 번호"/>
          <p:cNvSpPr/>
          <p:nvPr/>
        </p:nvSpPr>
        <p:spPr>
          <a:xfrm>
            <a:off x="548640" y="357530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3</a:t>
            </a:r>
            <a:endParaRPr lang="ko-KR" sz="1800" dirty="0"/>
          </a:p>
        </p:txBody>
      </p:sp>
      <p:sp>
        <p:nvSpPr>
          <p:cNvPr id="234" name="단계 설명"/>
          <p:cNvSpPr txBox="1"/>
          <p:nvPr/>
        </p:nvSpPr>
        <p:spPr>
          <a:xfrm>
            <a:off x="1325880" y="352958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Claude Desktop 준비</a:t>
            </a:r>
            <a:endParaRPr lang="ko-KR" sz="19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설정 → 기능 → 코드 실행 켜기 · Cowork 작업 폴더로 지정</a:t>
            </a:r>
            <a:endParaRPr lang="ko-KR" sz="1400" dirty="0"/>
          </a:p>
        </p:txBody>
      </p:sp>
      <p:sp>
        <p:nvSpPr>
          <p:cNvPr id="235" name="단계 번호"/>
          <p:cNvSpPr/>
          <p:nvPr/>
        </p:nvSpPr>
        <p:spPr>
          <a:xfrm>
            <a:off x="548640" y="4654296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4</a:t>
            </a:r>
            <a:endParaRPr lang="ko-KR" sz="1800" dirty="0"/>
          </a:p>
        </p:txBody>
      </p:sp>
      <p:sp>
        <p:nvSpPr>
          <p:cNvPr id="236" name="단계 설명"/>
          <p:cNvSpPr txBox="1"/>
          <p:nvPr/>
        </p:nvSpPr>
        <p:spPr>
          <a:xfrm>
            <a:off x="1325880" y="460857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레벨 폴더의 미션N.md 따라 하기</a:t>
            </a:r>
            <a:endParaRPr lang="ko-KR" sz="19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막히면 완성본/ 폴더를 열어 보기</a:t>
            </a:r>
            <a:endParaRPr lang="ko-KR" sz="1400" dirty="0"/>
          </a:p>
        </p:txBody>
      </p:sp>
      <p:sp>
        <p:nvSpPr>
          <p:cNvPr id="237" name="폴더 패널"/>
          <p:cNvSpPr/>
          <p:nvPr/>
        </p:nvSpPr>
        <p:spPr>
          <a:xfrm>
            <a:off x="6400800" y="1371600"/>
            <a:ext cx="5239512" cy="420624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238" name="폴더 트리"/>
          <p:cNvSpPr txBox="1"/>
          <p:nvPr/>
        </p:nvSpPr>
        <p:spPr>
          <a:xfrm>
            <a:off x="6720840" y="16459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2026AIDIGITAL-main/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00_시작하기</a:t>
            </a:r>
            <a:r>
              <a:rPr lang="ko-KR" altLang="en-US" sz="1300" dirty="0">
                <a:solidFill>
                  <a:schemeClr val="accent2"/>
                </a:solidFill>
              </a:rPr>
              <a:t>  준비 · 안전 수칙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가정통신문</a:t>
            </a:r>
            <a:r>
              <a:rPr lang="ko-KR" altLang="en-US" sz="1300" dirty="0">
                <a:solidFill>
                  <a:schemeClr val="accent2"/>
                </a:solidFill>
              </a:rPr>
              <a:t>  실습 원본(넷마블)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Lv1_그냥시키기</a:t>
            </a:r>
            <a:r>
              <a:rPr lang="ko-KR" altLang="en-US" sz="1300" dirty="0">
                <a:solidFill>
                  <a:schemeClr val="accent2"/>
                </a:solidFill>
              </a:rPr>
              <a:t>  미션 1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Lv2_스킬만들기</a:t>
            </a:r>
            <a:r>
              <a:rPr lang="ko-KR" altLang="en-US" sz="1300" dirty="0">
                <a:solidFill>
                  <a:schemeClr val="accent2"/>
                </a:solidFill>
              </a:rPr>
              <a:t>  미션 2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Lv3_양식지키기</a:t>
            </a:r>
            <a:r>
              <a:rPr lang="ko-KR" altLang="en-US" sz="1300" dirty="0">
                <a:solidFill>
                  <a:schemeClr val="accent2"/>
                </a:solidFill>
              </a:rPr>
              <a:t>  미션 3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Lv4_스킬연결</a:t>
            </a:r>
            <a:r>
              <a:rPr lang="ko-KR" altLang="en-US" sz="1300" dirty="0">
                <a:solidFill>
                  <a:schemeClr val="accent2"/>
                </a:solidFill>
              </a:rPr>
              <a:t>  미션 4 · 공문 10건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Lv5_검증</a:t>
            </a:r>
            <a:r>
              <a:rPr lang="ko-KR" altLang="en-US" sz="1300" dirty="0">
                <a:solidFill>
                  <a:schemeClr val="accent2"/>
                </a:solidFill>
              </a:rPr>
              <a:t>  미션 5 · 함정 4건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├ Lv6_자동화공유</a:t>
            </a:r>
            <a:r>
              <a:rPr lang="ko-KR" altLang="en-US" sz="1300" dirty="0">
                <a:solidFill>
                  <a:schemeClr val="accent2"/>
                </a:solidFill>
              </a:rPr>
              <a:t>  미션 6</a:t>
            </a:r>
            <a:endParaRPr lang="ko-KR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</a:rPr>
              <a:t>└ 완성본</a:t>
            </a:r>
            <a:r>
              <a:rPr lang="ko-KR" altLang="en-US" sz="1300" dirty="0">
                <a:solidFill>
                  <a:schemeClr val="accent2"/>
                </a:solidFill>
              </a:rPr>
              <a:t>  막히면 열어 보기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E6F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Agent Skill-up">
  <a:themeElements>
    <a:clrScheme name="AI Agent Skill-up">
      <a:dk1>
        <a:srgbClr val="16302F"/>
      </a:dk1>
      <a:lt1>
        <a:srgbClr val="FFFFFF"/>
      </a:lt1>
      <a:dk2>
        <a:srgbClr val="0E4744"/>
      </a:dk2>
      <a:lt2>
        <a:srgbClr val="EDF5F3"/>
      </a:lt2>
      <a:accent1>
        <a:srgbClr val="0E4744"/>
      </a:accent1>
      <a:accent2>
        <a:srgbClr val="F2A93B"/>
      </a:accent2>
      <a:accent3>
        <a:srgbClr val="2E8B7A"/>
      </a:accent3>
      <a:accent4>
        <a:srgbClr val="D9542F"/>
      </a:accent4>
      <a:accent5>
        <a:srgbClr val="5E6F6E"/>
      </a:accent5>
      <a:accent6>
        <a:srgbClr val="BFE0D8"/>
      </a:accent6>
      <a:hlink>
        <a:srgbClr val="2E8B7A"/>
      </a:hlink>
      <a:folHlink>
        <a:srgbClr val="5E6F6E"/>
      </a:folHlink>
    </a:clrScheme>
    <a:fontScheme name="AI Agent Skill-up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2950</Words>
  <Application>Microsoft Office PowerPoint</Application>
  <PresentationFormat>와이드스크린</PresentationFormat>
  <Paragraphs>453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Consolas</vt:lpstr>
      <vt:lpstr>AI Agent Skill-up</vt:lpstr>
      <vt:lpstr>업무용 AI Agent 스킬업</vt:lpstr>
      <vt:lpstr>2시간 뒤, 손에 남는 것</vt:lpstr>
      <vt:lpstr>오늘의 레벨 맵 (120분)</vt:lpstr>
      <vt:lpstr>오늘의 진행 방식</vt:lpstr>
      <vt:lpstr>챗봇과 에이전트는 무엇이 다른가</vt:lpstr>
      <vt:lpstr>완성품부터 봅시다.</vt:lpstr>
      <vt:lpstr>완성품부터 봅시다.</vt:lpstr>
      <vt:lpstr>오늘 쓰는 도구와 다른 도구 비교</vt:lpstr>
      <vt:lpstr>미션 1. 그냥 시켜 보기</vt:lpstr>
      <vt:lpstr>스킬 = 에이전트용 업무 인수인계서</vt:lpstr>
      <vt:lpstr>스킬 설계 카드 — 5칸만 채우면 된다</vt:lpstr>
      <vt:lpstr>SKILL.md는 이렇게 생겼다</vt:lpstr>
      <vt:lpstr>미션 2. 설계 카드를 스킬로</vt:lpstr>
      <vt:lpstr>학교 문서는 양식이 생명</vt:lpstr>
      <vt:lpstr>양식 스킬 만드는 4단계</vt:lpstr>
      <vt:lpstr>미션 3. 행사 원스톱 패키지</vt:lpstr>
      <vt:lpstr>고치기 루프 — 스킬은 실패할 때마다 자란다</vt:lpstr>
      <vt:lpstr>쉬는 시간 10분</vt:lpstr>
      <vt:lpstr>미션 4. 공문 해결사 — 스킬 3개 잇기</vt:lpstr>
      <vt:lpstr>안전한 일괄 처리를 위한 폴더 규칙</vt:lpstr>
      <vt:lpstr>미션 5. 함정을 찾아라</vt:lpstr>
      <vt:lpstr>교차 검증 — 만드는 AI와 검토하는 AI를 나눈다</vt:lpstr>
      <vt:lpstr>예약 실행 — 한 번 만들면 알아서 일한다</vt:lpstr>
      <vt:lpstr>스킬 패키지 완성 &amp; 공유</vt:lpstr>
      <vt:lpstr>꼭 지킬 안전 수칙 5가지</vt:lpstr>
      <vt:lpstr>내일 학교에서 해 볼 한 가지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업무용 AI Agent 스킬업</dc:title>
  <dc:subject>PptxGenJS Presentation</dc:subject>
  <dc:creator>신이삭</dc:creator>
  <cp:lastModifiedBy>원재 장</cp:lastModifiedBy>
  <cp:revision>2</cp:revision>
  <dcterms:created xsi:type="dcterms:W3CDTF">2026-10-25T11:41:30Z</dcterms:created>
  <dcterms:modified xsi:type="dcterms:W3CDTF">2026-10-30T01:56:01Z</dcterms:modified>
</cp:coreProperties>
</file>